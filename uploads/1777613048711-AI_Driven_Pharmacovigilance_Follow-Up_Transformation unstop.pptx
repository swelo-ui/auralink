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81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6800" y="5270500"/>
            <a:ext cx="10058400" cy="44831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67000" y="927100"/>
            <a:ext cx="1066800" cy="10033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2623" y="752474"/>
            <a:ext cx="9349105" cy="3716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012B5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012B5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012B5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012B5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500" y="6146800"/>
            <a:ext cx="774700" cy="7366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28800" y="6184900"/>
            <a:ext cx="723900" cy="6731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711200" y="2622550"/>
            <a:ext cx="5029200" cy="0"/>
          </a:xfrm>
          <a:custGeom>
            <a:avLst/>
            <a:gdLst/>
            <a:ahLst/>
            <a:cxnLst/>
            <a:rect l="l" t="t" r="r" b="b"/>
            <a:pathLst>
              <a:path w="5029200">
                <a:moveTo>
                  <a:pt x="0" y="0"/>
                </a:moveTo>
                <a:lnTo>
                  <a:pt x="5029200" y="0"/>
                </a:lnTo>
              </a:path>
            </a:pathLst>
          </a:custGeom>
          <a:ln w="88900">
            <a:solidFill>
              <a:srgbClr val="032F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223000" y="2622550"/>
            <a:ext cx="5029200" cy="0"/>
          </a:xfrm>
          <a:custGeom>
            <a:avLst/>
            <a:gdLst/>
            <a:ahLst/>
            <a:cxnLst/>
            <a:rect l="l" t="t" r="r" b="b"/>
            <a:pathLst>
              <a:path w="5029200">
                <a:moveTo>
                  <a:pt x="0" y="0"/>
                </a:moveTo>
                <a:lnTo>
                  <a:pt x="5029200" y="0"/>
                </a:lnTo>
              </a:path>
            </a:pathLst>
          </a:custGeom>
          <a:ln w="88900">
            <a:solidFill>
              <a:srgbClr val="032F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734800" y="2622550"/>
            <a:ext cx="5029200" cy="0"/>
          </a:xfrm>
          <a:custGeom>
            <a:avLst/>
            <a:gdLst/>
            <a:ahLst/>
            <a:cxnLst/>
            <a:rect l="l" t="t" r="r" b="b"/>
            <a:pathLst>
              <a:path w="5029200">
                <a:moveTo>
                  <a:pt x="0" y="0"/>
                </a:moveTo>
                <a:lnTo>
                  <a:pt x="5029200" y="0"/>
                </a:lnTo>
              </a:path>
            </a:pathLst>
          </a:custGeom>
          <a:ln w="88900">
            <a:solidFill>
              <a:srgbClr val="032F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5384" y="382058"/>
            <a:ext cx="16244431" cy="14255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012B5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image" Target="../media/image15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Himanshusharma.shriram@gmail.com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87655" rIns="0" bIns="0" rtlCol="0">
            <a:spAutoFit/>
          </a:bodyPr>
          <a:lstStyle/>
          <a:p>
            <a:pPr marL="12700" marR="5080" indent="29845">
              <a:lnSpc>
                <a:spcPct val="80900"/>
              </a:lnSpc>
              <a:spcBef>
                <a:spcPts val="2265"/>
              </a:spcBef>
            </a:pPr>
            <a:r>
              <a:rPr sz="9350" spc="-340" dirty="0">
                <a:solidFill>
                  <a:srgbClr val="003156"/>
                </a:solidFill>
              </a:rPr>
              <a:t>Transforming </a:t>
            </a:r>
            <a:r>
              <a:rPr sz="9200" spc="-80" dirty="0">
                <a:solidFill>
                  <a:srgbClr val="002D4F"/>
                </a:solidFill>
              </a:rPr>
              <a:t>Pharmaco</a:t>
            </a:r>
            <a:r>
              <a:rPr lang="en-US" sz="9200" spc="-80" dirty="0">
                <a:solidFill>
                  <a:srgbClr val="002D4F"/>
                </a:solidFill>
              </a:rPr>
              <a:t>v</a:t>
            </a:r>
            <a:r>
              <a:rPr sz="9200" spc="-80" dirty="0">
                <a:solidFill>
                  <a:srgbClr val="002D4F"/>
                </a:solidFill>
              </a:rPr>
              <a:t>igilance </a:t>
            </a:r>
            <a:r>
              <a:rPr sz="9150" spc="-260" dirty="0">
                <a:solidFill>
                  <a:srgbClr val="033459"/>
                </a:solidFill>
              </a:rPr>
              <a:t>Follow-</a:t>
            </a:r>
            <a:r>
              <a:rPr sz="9150" spc="-365" dirty="0">
                <a:solidFill>
                  <a:srgbClr val="033459"/>
                </a:solidFill>
              </a:rPr>
              <a:t>Up</a:t>
            </a:r>
            <a:endParaRPr sz="9150" dirty="0"/>
          </a:p>
        </p:txBody>
      </p:sp>
      <p:sp>
        <p:nvSpPr>
          <p:cNvPr id="3" name="object 3"/>
          <p:cNvSpPr txBox="1"/>
          <p:nvPr/>
        </p:nvSpPr>
        <p:spPr>
          <a:xfrm>
            <a:off x="1022569" y="4652786"/>
            <a:ext cx="8098790" cy="131699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 marR="5080" indent="5080">
              <a:lnSpc>
                <a:spcPts val="4750"/>
              </a:lnSpc>
              <a:spcBef>
                <a:spcPts val="810"/>
              </a:spcBef>
            </a:pPr>
            <a:r>
              <a:rPr sz="4500" spc="-25" dirty="0">
                <a:solidFill>
                  <a:srgbClr val="111111"/>
                </a:solidFill>
                <a:latin typeface="Arial MT"/>
                <a:cs typeface="Arial MT"/>
              </a:rPr>
              <a:t>Through</a:t>
            </a:r>
            <a:r>
              <a:rPr sz="4500" spc="-28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4500" spc="-114" dirty="0">
                <a:solidFill>
                  <a:srgbClr val="0E0E0E"/>
                </a:solidFill>
                <a:latin typeface="Arial MT"/>
                <a:cs typeface="Arial MT"/>
              </a:rPr>
              <a:t>Risk-</a:t>
            </a:r>
            <a:r>
              <a:rPr sz="4500" spc="-35" dirty="0">
                <a:solidFill>
                  <a:srgbClr val="0E0E0E"/>
                </a:solidFill>
                <a:latin typeface="Arial MT"/>
                <a:cs typeface="Arial MT"/>
              </a:rPr>
              <a:t>Based,</a:t>
            </a:r>
            <a:r>
              <a:rPr sz="4500" spc="-10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4500" spc="-110" dirty="0">
                <a:solidFill>
                  <a:srgbClr val="161616"/>
                </a:solidFill>
                <a:latin typeface="Arial MT"/>
                <a:cs typeface="Arial MT"/>
              </a:rPr>
              <a:t>AI-</a:t>
            </a:r>
            <a:r>
              <a:rPr sz="4500" spc="-90" dirty="0">
                <a:solidFill>
                  <a:srgbClr val="161616"/>
                </a:solidFill>
                <a:latin typeface="Arial MT"/>
                <a:cs typeface="Arial MT"/>
              </a:rPr>
              <a:t>Enabled </a:t>
            </a:r>
            <a:r>
              <a:rPr sz="4500" dirty="0">
                <a:solidFill>
                  <a:srgbClr val="151515"/>
                </a:solidFill>
                <a:latin typeface="Arial MT"/>
                <a:cs typeface="Arial MT"/>
              </a:rPr>
              <a:t>Digital</a:t>
            </a:r>
            <a:r>
              <a:rPr sz="4500" spc="-229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4500" spc="-30" dirty="0">
                <a:solidFill>
                  <a:srgbClr val="161616"/>
                </a:solidFill>
                <a:latin typeface="Arial MT"/>
                <a:cs typeface="Arial MT"/>
              </a:rPr>
              <a:t>Engagement</a:t>
            </a:r>
            <a:endParaRPr sz="4500">
              <a:latin typeface="Arial MT"/>
              <a:cs typeface="Arial MT"/>
            </a:endParaRPr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ED286052-2D0B-4FC1-B5E7-36E21BD575F6}"/>
              </a:ext>
            </a:extLst>
          </p:cNvPr>
          <p:cNvSpPr/>
          <p:nvPr/>
        </p:nvSpPr>
        <p:spPr>
          <a:xfrm>
            <a:off x="15671800" y="9372600"/>
            <a:ext cx="2133600" cy="1143000"/>
          </a:xfrm>
          <a:prstGeom prst="round2Diag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500" y="7315200"/>
            <a:ext cx="863600" cy="901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9300" y="5854700"/>
            <a:ext cx="1016000" cy="635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1700" y="4978400"/>
            <a:ext cx="723900" cy="7366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00" y="6604000"/>
            <a:ext cx="1066800" cy="5842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15384" y="382058"/>
            <a:ext cx="15880715" cy="755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800" spc="-10" dirty="0">
                <a:solidFill>
                  <a:srgbClr val="052346"/>
                </a:solidFill>
              </a:rPr>
              <a:t>The</a:t>
            </a:r>
            <a:r>
              <a:rPr sz="4800" spc="-260" dirty="0">
                <a:solidFill>
                  <a:srgbClr val="052346"/>
                </a:solidFill>
              </a:rPr>
              <a:t> </a:t>
            </a:r>
            <a:r>
              <a:rPr sz="4800" dirty="0">
                <a:solidFill>
                  <a:srgbClr val="031F44"/>
                </a:solidFill>
              </a:rPr>
              <a:t>Challenge:</a:t>
            </a:r>
            <a:r>
              <a:rPr sz="4800" spc="-265" dirty="0">
                <a:solidFill>
                  <a:srgbClr val="031F44"/>
                </a:solidFill>
              </a:rPr>
              <a:t> </a:t>
            </a:r>
            <a:r>
              <a:rPr sz="4800" spc="-65" dirty="0">
                <a:solidFill>
                  <a:srgbClr val="082648"/>
                </a:solidFill>
              </a:rPr>
              <a:t>From</a:t>
            </a:r>
            <a:r>
              <a:rPr sz="4800" spc="-210" dirty="0">
                <a:solidFill>
                  <a:srgbClr val="082648"/>
                </a:solidFill>
              </a:rPr>
              <a:t> </a:t>
            </a:r>
            <a:r>
              <a:rPr sz="4800" spc="-25" dirty="0">
                <a:solidFill>
                  <a:srgbClr val="031A3A"/>
                </a:solidFill>
              </a:rPr>
              <a:t>Systemic</a:t>
            </a:r>
            <a:r>
              <a:rPr sz="4800" spc="-220" dirty="0">
                <a:solidFill>
                  <a:srgbClr val="031A3A"/>
                </a:solidFill>
              </a:rPr>
              <a:t> </a:t>
            </a:r>
            <a:r>
              <a:rPr sz="4800" spc="-20" dirty="0">
                <a:solidFill>
                  <a:srgbClr val="052346"/>
                </a:solidFill>
              </a:rPr>
              <a:t>Failure</a:t>
            </a:r>
            <a:r>
              <a:rPr sz="4800" spc="-150" dirty="0">
                <a:solidFill>
                  <a:srgbClr val="052346"/>
                </a:solidFill>
              </a:rPr>
              <a:t> </a:t>
            </a:r>
            <a:r>
              <a:rPr sz="4800" spc="-30" dirty="0">
                <a:solidFill>
                  <a:srgbClr val="071D3D"/>
                </a:solidFill>
              </a:rPr>
              <a:t>to</a:t>
            </a:r>
            <a:r>
              <a:rPr sz="4800" spc="-415" dirty="0">
                <a:solidFill>
                  <a:srgbClr val="071D3D"/>
                </a:solidFill>
              </a:rPr>
              <a:t> </a:t>
            </a:r>
            <a:r>
              <a:rPr sz="4800" spc="-10" dirty="0">
                <a:solidFill>
                  <a:srgbClr val="051F3D"/>
                </a:solidFill>
              </a:rPr>
              <a:t>Intelligent</a:t>
            </a:r>
            <a:r>
              <a:rPr sz="4800" spc="75" dirty="0">
                <a:solidFill>
                  <a:srgbClr val="051F3D"/>
                </a:solidFill>
              </a:rPr>
              <a:t> </a:t>
            </a:r>
            <a:r>
              <a:rPr sz="4800" spc="-125" dirty="0">
                <a:solidFill>
                  <a:srgbClr val="031C3A"/>
                </a:solidFill>
              </a:rPr>
              <a:t>Follow-</a:t>
            </a:r>
            <a:r>
              <a:rPr sz="4800" spc="-25" dirty="0">
                <a:solidFill>
                  <a:srgbClr val="031C3A"/>
                </a:solidFill>
              </a:rPr>
              <a:t>Up</a:t>
            </a:r>
            <a:endParaRPr sz="4800"/>
          </a:p>
        </p:txBody>
      </p:sp>
      <p:sp>
        <p:nvSpPr>
          <p:cNvPr id="8" name="object 8"/>
          <p:cNvSpPr txBox="1"/>
          <p:nvPr/>
        </p:nvSpPr>
        <p:spPr>
          <a:xfrm>
            <a:off x="618439" y="1599053"/>
            <a:ext cx="6877050" cy="1953895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2950" spc="60" dirty="0">
                <a:solidFill>
                  <a:srgbClr val="383838"/>
                </a:solidFill>
                <a:latin typeface="Arial MT"/>
                <a:cs typeface="Arial MT"/>
              </a:rPr>
              <a:t>Problem</a:t>
            </a:r>
            <a:r>
              <a:rPr sz="2950" spc="-65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950" spc="70" dirty="0">
                <a:solidFill>
                  <a:srgbClr val="2F2F2F"/>
                </a:solidFill>
                <a:latin typeface="Arial MT"/>
                <a:cs typeface="Arial MT"/>
              </a:rPr>
              <a:t>Understanding</a:t>
            </a:r>
            <a:endParaRPr sz="2950">
              <a:latin typeface="Arial MT"/>
              <a:cs typeface="Arial MT"/>
            </a:endParaRPr>
          </a:p>
          <a:p>
            <a:pPr marL="20955" marR="5080" indent="-2540">
              <a:lnSpc>
                <a:spcPts val="3900"/>
              </a:lnSpc>
              <a:spcBef>
                <a:spcPts val="2340"/>
              </a:spcBef>
            </a:pPr>
            <a:r>
              <a:rPr sz="3600" spc="-25" dirty="0">
                <a:solidFill>
                  <a:srgbClr val="181818"/>
                </a:solidFill>
                <a:latin typeface="Arial MT"/>
                <a:cs typeface="Arial MT"/>
              </a:rPr>
              <a:t>Current</a:t>
            </a:r>
            <a:r>
              <a:rPr sz="3600" spc="-19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3600" spc="-60" dirty="0">
                <a:solidFill>
                  <a:srgbClr val="161616"/>
                </a:solidFill>
                <a:latin typeface="Arial MT"/>
                <a:cs typeface="Arial MT"/>
              </a:rPr>
              <a:t>Follow-</a:t>
            </a:r>
            <a:r>
              <a:rPr sz="3600" dirty="0">
                <a:solidFill>
                  <a:srgbClr val="161616"/>
                </a:solidFill>
                <a:latin typeface="Arial MT"/>
                <a:cs typeface="Arial MT"/>
              </a:rPr>
              <a:t>Up</a:t>
            </a:r>
            <a:r>
              <a:rPr sz="3600" spc="-5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3600" spc="75" dirty="0">
                <a:solidFill>
                  <a:srgbClr val="232323"/>
                </a:solidFill>
                <a:latin typeface="Arial MT"/>
                <a:cs typeface="Arial MT"/>
              </a:rPr>
              <a:t>is</a:t>
            </a:r>
            <a:r>
              <a:rPr sz="3600" spc="-26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3600" spc="-180" dirty="0">
                <a:solidFill>
                  <a:srgbClr val="131313"/>
                </a:solidFill>
                <a:latin typeface="Arial MT"/>
                <a:cs typeface="Arial MT"/>
              </a:rPr>
              <a:t>a</a:t>
            </a:r>
            <a:r>
              <a:rPr sz="3600" spc="-29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181818"/>
                </a:solidFill>
                <a:latin typeface="Arial MT"/>
                <a:cs typeface="Arial MT"/>
              </a:rPr>
              <a:t>High-</a:t>
            </a:r>
            <a:r>
              <a:rPr sz="3600" spc="-10" dirty="0">
                <a:solidFill>
                  <a:srgbClr val="181818"/>
                </a:solidFill>
                <a:latin typeface="Arial MT"/>
                <a:cs typeface="Arial MT"/>
              </a:rPr>
              <a:t>Effort, </a:t>
            </a:r>
            <a:r>
              <a:rPr sz="3600" spc="-50" dirty="0">
                <a:solidFill>
                  <a:srgbClr val="161616"/>
                </a:solidFill>
                <a:latin typeface="Arial MT"/>
                <a:cs typeface="Arial MT"/>
              </a:rPr>
              <a:t>Low-</a:t>
            </a:r>
            <a:r>
              <a:rPr sz="3600" dirty="0">
                <a:solidFill>
                  <a:srgbClr val="161616"/>
                </a:solidFill>
                <a:latin typeface="Arial MT"/>
                <a:cs typeface="Arial MT"/>
              </a:rPr>
              <a:t>Yield</a:t>
            </a:r>
            <a:r>
              <a:rPr sz="3600" spc="-19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1C1C1C"/>
                </a:solidFill>
                <a:latin typeface="Arial MT"/>
                <a:cs typeface="Arial MT"/>
              </a:rPr>
              <a:t>System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95186" y="3667248"/>
            <a:ext cx="4342414" cy="76892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3000"/>
              </a:lnSpc>
              <a:spcBef>
                <a:spcPts val="125"/>
              </a:spcBef>
            </a:pPr>
            <a:r>
              <a:rPr sz="2400" dirty="0">
                <a:latin typeface="Arial MT"/>
                <a:cs typeface="Arial MT"/>
              </a:rPr>
              <a:t>of adverse event (AE) cases</a:t>
            </a:r>
          </a:p>
          <a:p>
            <a:pPr marL="13335">
              <a:lnSpc>
                <a:spcPts val="3120"/>
              </a:lnSpc>
            </a:pPr>
            <a:r>
              <a:rPr sz="2400" dirty="0">
                <a:latin typeface="Arial MT"/>
                <a:cs typeface="Arial MT"/>
              </a:rPr>
              <a:t>remain partially incomplete.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20866" y="4968169"/>
            <a:ext cx="7771130" cy="42094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38605">
              <a:lnSpc>
                <a:spcPts val="2765"/>
              </a:lnSpc>
              <a:spcBef>
                <a:spcPts val="130"/>
              </a:spcBef>
            </a:pPr>
            <a:r>
              <a:rPr sz="2400" dirty="0">
                <a:latin typeface="Arial MT"/>
                <a:cs typeface="Arial MT"/>
              </a:rPr>
              <a:t>High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cognitive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burden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on</a:t>
            </a:r>
            <a:endParaRPr sz="2400">
              <a:latin typeface="Arial MT"/>
              <a:cs typeface="Arial MT"/>
            </a:endParaRPr>
          </a:p>
          <a:p>
            <a:pPr marL="1541780">
              <a:lnSpc>
                <a:spcPts val="2945"/>
              </a:lnSpc>
            </a:pPr>
            <a:r>
              <a:rPr sz="2550" spc="-75" dirty="0">
                <a:latin typeface="Arial MT"/>
                <a:cs typeface="Arial MT"/>
              </a:rPr>
              <a:t>healthcare</a:t>
            </a:r>
            <a:r>
              <a:rPr sz="2550" spc="-95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professionals</a:t>
            </a:r>
            <a:endParaRPr sz="2550">
              <a:latin typeface="Arial MT"/>
              <a:cs typeface="Arial MT"/>
            </a:endParaRPr>
          </a:p>
          <a:p>
            <a:pPr marL="1534160" marR="5080" indent="3810">
              <a:lnSpc>
                <a:spcPct val="169900"/>
              </a:lnSpc>
              <a:spcBef>
                <a:spcPts val="10"/>
              </a:spcBef>
            </a:pPr>
            <a:r>
              <a:rPr sz="2600" spc="-100" dirty="0">
                <a:latin typeface="Arial MT"/>
                <a:cs typeface="Arial MT"/>
              </a:rPr>
              <a:t>Limited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-45" dirty="0">
                <a:latin typeface="Arial MT"/>
                <a:cs typeface="Arial MT"/>
              </a:rPr>
              <a:t>patient</a:t>
            </a:r>
            <a:r>
              <a:rPr sz="2600" spc="-130" dirty="0">
                <a:latin typeface="Arial MT"/>
                <a:cs typeface="Arial MT"/>
              </a:rPr>
              <a:t> </a:t>
            </a:r>
            <a:r>
              <a:rPr sz="2600" spc="-120" dirty="0">
                <a:latin typeface="Arial MT"/>
                <a:cs typeface="Arial MT"/>
              </a:rPr>
              <a:t>engagement</a:t>
            </a:r>
            <a:r>
              <a:rPr sz="2600" spc="140" dirty="0">
                <a:latin typeface="Arial MT"/>
                <a:cs typeface="Arial MT"/>
              </a:rPr>
              <a:t> </a:t>
            </a:r>
            <a:r>
              <a:rPr sz="2600" spc="-135" dirty="0">
                <a:latin typeface="Arial MT"/>
                <a:cs typeface="Arial MT"/>
              </a:rPr>
              <a:t>and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trust</a:t>
            </a:r>
            <a:r>
              <a:rPr sz="2600" spc="-150" dirty="0">
                <a:latin typeface="Arial MT"/>
                <a:cs typeface="Arial MT"/>
              </a:rPr>
              <a:t> </a:t>
            </a:r>
            <a:r>
              <a:rPr sz="2600" spc="-85" dirty="0">
                <a:latin typeface="Arial MT"/>
                <a:cs typeface="Arial MT"/>
              </a:rPr>
              <a:t>barriers </a:t>
            </a:r>
            <a:r>
              <a:rPr sz="2600" spc="-55" dirty="0">
                <a:latin typeface="Arial MT"/>
                <a:cs typeface="Arial MT"/>
              </a:rPr>
              <a:t>One-</a:t>
            </a:r>
            <a:r>
              <a:rPr sz="2600" spc="-45" dirty="0">
                <a:latin typeface="Arial MT"/>
                <a:cs typeface="Arial MT"/>
              </a:rPr>
              <a:t>size-</a:t>
            </a:r>
            <a:r>
              <a:rPr sz="2600" spc="-40" dirty="0">
                <a:latin typeface="Arial MT"/>
                <a:cs typeface="Arial MT"/>
              </a:rPr>
              <a:t>fits-</a:t>
            </a:r>
            <a:r>
              <a:rPr sz="2600" spc="-35" dirty="0">
                <a:latin typeface="Arial MT"/>
                <a:cs typeface="Arial MT"/>
              </a:rPr>
              <a:t>all</a:t>
            </a:r>
            <a:r>
              <a:rPr sz="2600" spc="-204" dirty="0">
                <a:latin typeface="Arial MT"/>
                <a:cs typeface="Arial MT"/>
              </a:rPr>
              <a:t> </a:t>
            </a:r>
            <a:r>
              <a:rPr sz="2600" spc="-65" dirty="0">
                <a:latin typeface="Arial MT"/>
                <a:cs typeface="Arial MT"/>
              </a:rPr>
              <a:t>follow-</a:t>
            </a:r>
            <a:r>
              <a:rPr sz="2600" dirty="0">
                <a:latin typeface="Arial MT"/>
                <a:cs typeface="Arial MT"/>
              </a:rPr>
              <a:t>up</a:t>
            </a:r>
            <a:r>
              <a:rPr sz="2600" spc="11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strategies</a:t>
            </a:r>
            <a:endParaRPr sz="2600">
              <a:latin typeface="Arial MT"/>
              <a:cs typeface="Arial MT"/>
            </a:endParaRPr>
          </a:p>
          <a:p>
            <a:pPr marL="1549400" marR="413384" indent="-11430">
              <a:lnSpc>
                <a:spcPts val="2750"/>
              </a:lnSpc>
              <a:spcBef>
                <a:spcPts val="2580"/>
              </a:spcBef>
            </a:pPr>
            <a:r>
              <a:rPr sz="2600" spc="-140" dirty="0">
                <a:latin typeface="Arial MT"/>
                <a:cs typeface="Arial MT"/>
              </a:rPr>
              <a:t>Manual,</a:t>
            </a:r>
            <a:r>
              <a:rPr sz="2600" spc="20" dirty="0">
                <a:latin typeface="Arial MT"/>
                <a:cs typeface="Arial MT"/>
              </a:rPr>
              <a:t> </a:t>
            </a:r>
            <a:r>
              <a:rPr sz="2600" spc="-65" dirty="0">
                <a:latin typeface="Arial MT"/>
                <a:cs typeface="Arial MT"/>
              </a:rPr>
              <a:t>non-</a:t>
            </a:r>
            <a:r>
              <a:rPr sz="2600" spc="-45" dirty="0">
                <a:latin typeface="Arial MT"/>
                <a:cs typeface="Arial MT"/>
              </a:rPr>
              <a:t>prioritized</a:t>
            </a:r>
            <a:r>
              <a:rPr sz="2600" spc="-125" dirty="0">
                <a:latin typeface="Arial MT"/>
                <a:cs typeface="Arial MT"/>
              </a:rPr>
              <a:t> </a:t>
            </a:r>
            <a:r>
              <a:rPr sz="2600" spc="-85" dirty="0">
                <a:latin typeface="Arial MT"/>
                <a:cs typeface="Arial MT"/>
              </a:rPr>
              <a:t>pharmacovigilance </a:t>
            </a:r>
            <a:r>
              <a:rPr sz="2600" spc="-10" dirty="0">
                <a:latin typeface="Arial MT"/>
                <a:cs typeface="Arial MT"/>
              </a:rPr>
              <a:t>workflows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ts val="2850"/>
              </a:lnSpc>
              <a:spcBef>
                <a:spcPts val="2750"/>
              </a:spcBef>
            </a:pPr>
            <a:r>
              <a:rPr sz="2500" i="1" spc="-10" dirty="0">
                <a:latin typeface="Arial"/>
                <a:cs typeface="Arial"/>
              </a:rPr>
              <a:t>This</a:t>
            </a:r>
            <a:r>
              <a:rPr sz="2500" i="1" spc="-165" dirty="0">
                <a:latin typeface="Arial"/>
                <a:cs typeface="Arial"/>
              </a:rPr>
              <a:t> </a:t>
            </a:r>
            <a:r>
              <a:rPr sz="2500" i="1" spc="-10" dirty="0">
                <a:latin typeface="Arial"/>
                <a:cs typeface="Arial"/>
              </a:rPr>
              <a:t>leads</a:t>
            </a:r>
            <a:r>
              <a:rPr sz="2500" i="1" spc="-85" dirty="0">
                <a:latin typeface="Arial"/>
                <a:cs typeface="Arial"/>
              </a:rPr>
              <a:t> </a:t>
            </a:r>
            <a:r>
              <a:rPr sz="2500" spc="-10" dirty="0">
                <a:latin typeface="Arial MT"/>
                <a:cs typeface="Arial MT"/>
              </a:rPr>
              <a:t>to</a:t>
            </a:r>
            <a:r>
              <a:rPr sz="2500" spc="-190" dirty="0">
                <a:latin typeface="Arial MT"/>
                <a:cs typeface="Arial MT"/>
              </a:rPr>
              <a:t> </a:t>
            </a:r>
            <a:r>
              <a:rPr sz="2500" i="1" spc="-35" dirty="0">
                <a:latin typeface="Arial"/>
                <a:cs typeface="Arial"/>
              </a:rPr>
              <a:t>delayed</a:t>
            </a:r>
            <a:r>
              <a:rPr sz="2500" i="1" spc="-75" dirty="0">
                <a:latin typeface="Arial"/>
                <a:cs typeface="Arial"/>
              </a:rPr>
              <a:t> </a:t>
            </a:r>
            <a:r>
              <a:rPr sz="2500" i="1" spc="-30" dirty="0">
                <a:latin typeface="Arial"/>
                <a:cs typeface="Arial"/>
              </a:rPr>
              <a:t>signal</a:t>
            </a:r>
            <a:r>
              <a:rPr sz="2500" i="1" spc="-65" dirty="0">
                <a:latin typeface="Arial"/>
                <a:cs typeface="Arial"/>
              </a:rPr>
              <a:t> </a:t>
            </a:r>
            <a:r>
              <a:rPr sz="2500" i="1" dirty="0">
                <a:latin typeface="Arial"/>
                <a:cs typeface="Arial"/>
              </a:rPr>
              <a:t>detection,</a:t>
            </a:r>
            <a:r>
              <a:rPr sz="2500" i="1" spc="-50" dirty="0">
                <a:latin typeface="Arial"/>
                <a:cs typeface="Arial"/>
              </a:rPr>
              <a:t> </a:t>
            </a:r>
            <a:r>
              <a:rPr sz="2500" i="1" spc="-10" dirty="0">
                <a:latin typeface="Arial"/>
                <a:cs typeface="Arial"/>
              </a:rPr>
              <a:t>increased</a:t>
            </a:r>
            <a:endParaRPr sz="2500">
              <a:latin typeface="Arial"/>
              <a:cs typeface="Arial"/>
            </a:endParaRPr>
          </a:p>
          <a:p>
            <a:pPr marL="15875">
              <a:lnSpc>
                <a:spcPts val="2910"/>
              </a:lnSpc>
            </a:pPr>
            <a:r>
              <a:rPr sz="2550" i="1" spc="-40" dirty="0">
                <a:latin typeface="Arial"/>
                <a:cs typeface="Arial"/>
              </a:rPr>
              <a:t>regulatory</a:t>
            </a:r>
            <a:r>
              <a:rPr sz="2550" i="1" spc="-15" dirty="0">
                <a:latin typeface="Arial"/>
                <a:cs typeface="Arial"/>
              </a:rPr>
              <a:t> </a:t>
            </a:r>
            <a:r>
              <a:rPr sz="2550" spc="-90" dirty="0">
                <a:latin typeface="Arial MT"/>
                <a:cs typeface="Arial MT"/>
              </a:rPr>
              <a:t>exposure,</a:t>
            </a:r>
            <a:r>
              <a:rPr sz="2550" spc="45" dirty="0">
                <a:latin typeface="Arial MT"/>
                <a:cs typeface="Arial MT"/>
              </a:rPr>
              <a:t> </a:t>
            </a:r>
            <a:r>
              <a:rPr sz="2550" i="1" spc="-100" dirty="0">
                <a:latin typeface="Arial"/>
                <a:cs typeface="Arial"/>
              </a:rPr>
              <a:t>and</a:t>
            </a:r>
            <a:r>
              <a:rPr sz="2550" i="1" spc="-80" dirty="0">
                <a:latin typeface="Arial"/>
                <a:cs typeface="Arial"/>
              </a:rPr>
              <a:t> </a:t>
            </a:r>
            <a:r>
              <a:rPr sz="2550" i="1" spc="-65" dirty="0">
                <a:latin typeface="Arial"/>
                <a:cs typeface="Arial"/>
              </a:rPr>
              <a:t>avoidable</a:t>
            </a:r>
            <a:r>
              <a:rPr sz="2550" i="1" spc="-114" dirty="0">
                <a:latin typeface="Arial"/>
                <a:cs typeface="Arial"/>
              </a:rPr>
              <a:t> </a:t>
            </a:r>
            <a:r>
              <a:rPr sz="2550" dirty="0">
                <a:latin typeface="Arial MT"/>
                <a:cs typeface="Arial MT"/>
              </a:rPr>
              <a:t>patient</a:t>
            </a:r>
            <a:r>
              <a:rPr sz="2550" spc="-105" dirty="0">
                <a:latin typeface="Arial MT"/>
                <a:cs typeface="Arial MT"/>
              </a:rPr>
              <a:t> </a:t>
            </a:r>
            <a:r>
              <a:rPr sz="2550" i="1" spc="-35" dirty="0">
                <a:latin typeface="Arial"/>
                <a:cs typeface="Arial"/>
              </a:rPr>
              <a:t>safety</a:t>
            </a:r>
            <a:r>
              <a:rPr sz="2550" i="1" spc="-65" dirty="0">
                <a:latin typeface="Arial"/>
                <a:cs typeface="Arial"/>
              </a:rPr>
              <a:t> </a:t>
            </a:r>
            <a:r>
              <a:rPr sz="2550" spc="-10" dirty="0">
                <a:latin typeface="Arial MT"/>
                <a:cs typeface="Arial MT"/>
              </a:rPr>
              <a:t>risks.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37933" y="1527379"/>
            <a:ext cx="7083425" cy="4018279"/>
          </a:xfrm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920"/>
              </a:spcBef>
            </a:pPr>
            <a:r>
              <a:rPr sz="3250" spc="-60" dirty="0">
                <a:solidFill>
                  <a:srgbClr val="05132D"/>
                </a:solidFill>
                <a:latin typeface="Arial MT"/>
                <a:cs typeface="Arial MT"/>
              </a:rPr>
              <a:t>Solution</a:t>
            </a:r>
            <a:r>
              <a:rPr sz="3250" spc="-160" dirty="0">
                <a:solidFill>
                  <a:srgbClr val="05132D"/>
                </a:solidFill>
                <a:latin typeface="Arial MT"/>
                <a:cs typeface="Arial MT"/>
              </a:rPr>
              <a:t> </a:t>
            </a:r>
            <a:r>
              <a:rPr sz="3250" spc="-10" dirty="0">
                <a:solidFill>
                  <a:srgbClr val="051A3A"/>
                </a:solidFill>
                <a:latin typeface="Arial MT"/>
                <a:cs typeface="Arial MT"/>
              </a:rPr>
              <a:t>Design</a:t>
            </a:r>
            <a:endParaRPr sz="3250">
              <a:latin typeface="Arial MT"/>
              <a:cs typeface="Arial MT"/>
            </a:endParaRPr>
          </a:p>
          <a:p>
            <a:pPr marL="12700" marR="374650" indent="635">
              <a:lnSpc>
                <a:spcPts val="3900"/>
              </a:lnSpc>
              <a:spcBef>
                <a:spcPts val="2280"/>
              </a:spcBef>
            </a:pPr>
            <a:r>
              <a:rPr sz="3450" dirty="0">
                <a:solidFill>
                  <a:srgbClr val="082344"/>
                </a:solidFill>
                <a:latin typeface="Arial MT"/>
                <a:cs typeface="Arial MT"/>
              </a:rPr>
              <a:t>Our</a:t>
            </a:r>
            <a:r>
              <a:rPr sz="3450" spc="65" dirty="0">
                <a:solidFill>
                  <a:srgbClr val="082344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052148"/>
                </a:solidFill>
                <a:latin typeface="Arial MT"/>
                <a:cs typeface="Arial MT"/>
              </a:rPr>
              <a:t>Vision:</a:t>
            </a:r>
            <a:r>
              <a:rPr sz="3450" spc="45" dirty="0">
                <a:solidFill>
                  <a:srgbClr val="052148"/>
                </a:solidFill>
                <a:latin typeface="Arial MT"/>
                <a:cs typeface="Arial MT"/>
              </a:rPr>
              <a:t> </a:t>
            </a:r>
            <a:r>
              <a:rPr sz="3450" spc="-70" dirty="0">
                <a:solidFill>
                  <a:srgbClr val="031C3B"/>
                </a:solidFill>
                <a:latin typeface="Arial MT"/>
                <a:cs typeface="Arial MT"/>
              </a:rPr>
              <a:t>A</a:t>
            </a:r>
            <a:r>
              <a:rPr sz="3450" spc="-95" dirty="0">
                <a:solidFill>
                  <a:srgbClr val="031C3B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051A34"/>
                </a:solidFill>
                <a:latin typeface="Arial MT"/>
                <a:cs typeface="Arial MT"/>
              </a:rPr>
              <a:t>Proactive,</a:t>
            </a:r>
            <a:r>
              <a:rPr sz="3450" spc="-95" dirty="0">
                <a:solidFill>
                  <a:srgbClr val="051A34"/>
                </a:solidFill>
                <a:latin typeface="Arial MT"/>
                <a:cs typeface="Arial MT"/>
              </a:rPr>
              <a:t> </a:t>
            </a:r>
            <a:r>
              <a:rPr sz="3450" spc="-10" dirty="0">
                <a:solidFill>
                  <a:srgbClr val="0A2342"/>
                </a:solidFill>
                <a:latin typeface="Arial MT"/>
                <a:cs typeface="Arial MT"/>
              </a:rPr>
              <a:t>Reporter- </a:t>
            </a:r>
            <a:r>
              <a:rPr sz="3450" spc="60" dirty="0">
                <a:solidFill>
                  <a:srgbClr val="051C3B"/>
                </a:solidFill>
                <a:latin typeface="Arial MT"/>
                <a:cs typeface="Arial MT"/>
              </a:rPr>
              <a:t>Centric</a:t>
            </a:r>
            <a:r>
              <a:rPr sz="3450" spc="-135" dirty="0">
                <a:solidFill>
                  <a:srgbClr val="051C3B"/>
                </a:solidFill>
                <a:latin typeface="Arial MT"/>
                <a:cs typeface="Arial MT"/>
              </a:rPr>
              <a:t> </a:t>
            </a:r>
            <a:r>
              <a:rPr sz="3450" spc="50" dirty="0">
                <a:solidFill>
                  <a:srgbClr val="081C38"/>
                </a:solidFill>
                <a:latin typeface="Arial MT"/>
                <a:cs typeface="Arial MT"/>
              </a:rPr>
              <a:t>Intelligence</a:t>
            </a:r>
            <a:r>
              <a:rPr sz="3450" spc="65" dirty="0">
                <a:solidFill>
                  <a:srgbClr val="081C38"/>
                </a:solidFill>
                <a:latin typeface="Arial MT"/>
                <a:cs typeface="Arial MT"/>
              </a:rPr>
              <a:t> </a:t>
            </a:r>
            <a:r>
              <a:rPr sz="3450" spc="-10" dirty="0">
                <a:solidFill>
                  <a:srgbClr val="081D3D"/>
                </a:solidFill>
                <a:latin typeface="Arial MT"/>
                <a:cs typeface="Arial MT"/>
              </a:rPr>
              <a:t>Platform</a:t>
            </a:r>
            <a:endParaRPr sz="3450">
              <a:latin typeface="Arial MT"/>
              <a:cs typeface="Arial MT"/>
            </a:endParaRPr>
          </a:p>
          <a:p>
            <a:pPr marL="15240" marR="280670" indent="6350">
              <a:lnSpc>
                <a:spcPct val="87200"/>
              </a:lnSpc>
              <a:spcBef>
                <a:spcPts val="1964"/>
              </a:spcBef>
            </a:pPr>
            <a:r>
              <a:rPr sz="2550" spc="-254" dirty="0">
                <a:latin typeface="Arial MT"/>
                <a:cs typeface="Arial MT"/>
              </a:rPr>
              <a:t>A</a:t>
            </a:r>
            <a:r>
              <a:rPr sz="2550" spc="45" dirty="0">
                <a:latin typeface="Arial MT"/>
                <a:cs typeface="Arial MT"/>
              </a:rPr>
              <a:t> </a:t>
            </a:r>
            <a:r>
              <a:rPr sz="2550" spc="-20" dirty="0">
                <a:latin typeface="Arial MT"/>
                <a:cs typeface="Arial MT"/>
              </a:rPr>
              <a:t>globally</a:t>
            </a:r>
            <a:r>
              <a:rPr sz="2550" spc="-120" dirty="0">
                <a:latin typeface="Arial MT"/>
                <a:cs typeface="Arial MT"/>
              </a:rPr>
              <a:t> </a:t>
            </a:r>
            <a:r>
              <a:rPr sz="2550" spc="-55" dirty="0">
                <a:latin typeface="Arial MT"/>
                <a:cs typeface="Arial MT"/>
              </a:rPr>
              <a:t>standardized,</a:t>
            </a:r>
            <a:r>
              <a:rPr sz="2550" spc="-60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locally</a:t>
            </a:r>
            <a:r>
              <a:rPr sz="2550" spc="-40" dirty="0">
                <a:latin typeface="Arial MT"/>
                <a:cs typeface="Arial MT"/>
              </a:rPr>
              <a:t> adaptive</a:t>
            </a:r>
            <a:r>
              <a:rPr sz="2550" spc="-135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platform </a:t>
            </a:r>
            <a:r>
              <a:rPr sz="2750" spc="-65" dirty="0">
                <a:latin typeface="Arial MT"/>
                <a:cs typeface="Arial MT"/>
              </a:rPr>
              <a:t>that</a:t>
            </a:r>
            <a:r>
              <a:rPr sz="2750" spc="-130" dirty="0">
                <a:latin typeface="Arial MT"/>
                <a:cs typeface="Arial MT"/>
              </a:rPr>
              <a:t> </a:t>
            </a:r>
            <a:r>
              <a:rPr sz="2750" spc="-170" dirty="0">
                <a:latin typeface="Arial MT"/>
                <a:cs typeface="Arial MT"/>
              </a:rPr>
              <a:t>uses</a:t>
            </a:r>
            <a:r>
              <a:rPr sz="2750" spc="-15" dirty="0">
                <a:latin typeface="Arial MT"/>
                <a:cs typeface="Arial MT"/>
              </a:rPr>
              <a:t> </a:t>
            </a:r>
            <a:r>
              <a:rPr sz="2750" spc="-125" dirty="0">
                <a:latin typeface="Arial MT"/>
                <a:cs typeface="Arial MT"/>
              </a:rPr>
              <a:t>Al-</a:t>
            </a:r>
            <a:r>
              <a:rPr sz="2750" spc="-120" dirty="0">
                <a:latin typeface="Arial MT"/>
                <a:cs typeface="Arial MT"/>
              </a:rPr>
              <a:t>driven</a:t>
            </a:r>
            <a:r>
              <a:rPr sz="2750" spc="-70" dirty="0">
                <a:latin typeface="Arial MT"/>
                <a:cs typeface="Arial MT"/>
              </a:rPr>
              <a:t> </a:t>
            </a:r>
            <a:r>
              <a:rPr sz="2750" spc="-100" dirty="0">
                <a:latin typeface="Arial MT"/>
                <a:cs typeface="Arial MT"/>
              </a:rPr>
              <a:t>risk</a:t>
            </a:r>
            <a:r>
              <a:rPr sz="2750" spc="80" dirty="0">
                <a:latin typeface="Arial MT"/>
                <a:cs typeface="Arial MT"/>
              </a:rPr>
              <a:t> </a:t>
            </a:r>
            <a:r>
              <a:rPr sz="2750" spc="-85" dirty="0">
                <a:latin typeface="Arial MT"/>
                <a:cs typeface="Arial MT"/>
              </a:rPr>
              <a:t>stratification</a:t>
            </a:r>
            <a:r>
              <a:rPr sz="2750" spc="-165" dirty="0">
                <a:latin typeface="Arial MT"/>
                <a:cs typeface="Arial MT"/>
              </a:rPr>
              <a:t> </a:t>
            </a:r>
            <a:r>
              <a:rPr sz="2750" spc="-55" dirty="0">
                <a:latin typeface="Arial MT"/>
                <a:cs typeface="Arial MT"/>
              </a:rPr>
              <a:t>to</a:t>
            </a:r>
            <a:r>
              <a:rPr sz="2750" spc="-200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prioritize </a:t>
            </a:r>
            <a:r>
              <a:rPr sz="2500" dirty="0">
                <a:latin typeface="Arial MT"/>
                <a:cs typeface="Arial MT"/>
              </a:rPr>
              <a:t>critical</a:t>
            </a:r>
            <a:r>
              <a:rPr sz="2500" spc="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cases</a:t>
            </a:r>
            <a:r>
              <a:rPr sz="2500" spc="10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with</a:t>
            </a:r>
            <a:r>
              <a:rPr sz="2500" spc="-50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minimal</a:t>
            </a:r>
            <a:r>
              <a:rPr sz="2500" spc="8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effort,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ensuring</a:t>
            </a:r>
            <a:endParaRPr sz="2500">
              <a:latin typeface="Arial MT"/>
              <a:cs typeface="Arial MT"/>
            </a:endParaRPr>
          </a:p>
          <a:p>
            <a:pPr marL="33655">
              <a:lnSpc>
                <a:spcPts val="2645"/>
              </a:lnSpc>
            </a:pPr>
            <a:r>
              <a:rPr sz="2700" spc="-90" dirty="0">
                <a:latin typeface="Arial MT"/>
                <a:cs typeface="Arial MT"/>
              </a:rPr>
              <a:t>with</a:t>
            </a:r>
            <a:r>
              <a:rPr sz="2700" spc="-100" dirty="0">
                <a:latin typeface="Arial MT"/>
                <a:cs typeface="Arial MT"/>
              </a:rPr>
              <a:t> </a:t>
            </a:r>
            <a:r>
              <a:rPr sz="2700" spc="-145" dirty="0">
                <a:latin typeface="Arial MT"/>
                <a:cs typeface="Arial MT"/>
              </a:rPr>
              <a:t>minimal</a:t>
            </a:r>
            <a:r>
              <a:rPr sz="2700" spc="-25" dirty="0">
                <a:latin typeface="Arial MT"/>
                <a:cs typeface="Arial MT"/>
              </a:rPr>
              <a:t> </a:t>
            </a:r>
            <a:r>
              <a:rPr sz="2700" spc="-35" dirty="0">
                <a:latin typeface="Arial MT"/>
                <a:cs typeface="Arial MT"/>
              </a:rPr>
              <a:t>effort,</a:t>
            </a:r>
            <a:r>
              <a:rPr sz="2700" spc="-70" dirty="0">
                <a:latin typeface="Arial MT"/>
                <a:cs typeface="Arial MT"/>
              </a:rPr>
              <a:t> </a:t>
            </a:r>
            <a:r>
              <a:rPr sz="2700" spc="-130" dirty="0">
                <a:latin typeface="Arial MT"/>
                <a:cs typeface="Arial MT"/>
              </a:rPr>
              <a:t>ensuring</a:t>
            </a:r>
            <a:r>
              <a:rPr sz="2700" spc="65" dirty="0">
                <a:latin typeface="Arial MT"/>
                <a:cs typeface="Arial MT"/>
              </a:rPr>
              <a:t> </a:t>
            </a:r>
            <a:r>
              <a:rPr sz="2700" spc="-95" dirty="0">
                <a:latin typeface="Arial MT"/>
                <a:cs typeface="Arial MT"/>
              </a:rPr>
              <a:t>regulatory-</a:t>
            </a:r>
            <a:r>
              <a:rPr sz="2700" spc="-110" dirty="0">
                <a:latin typeface="Arial MT"/>
                <a:cs typeface="Arial MT"/>
              </a:rPr>
              <a:t>grade</a:t>
            </a:r>
            <a:r>
              <a:rPr sz="2700" spc="-145" dirty="0">
                <a:latin typeface="Arial MT"/>
                <a:cs typeface="Arial MT"/>
              </a:rPr>
              <a:t> </a:t>
            </a:r>
            <a:r>
              <a:rPr sz="2700" spc="-50" dirty="0">
                <a:latin typeface="Arial MT"/>
                <a:cs typeface="Arial MT"/>
              </a:rPr>
              <a:t>data</a:t>
            </a:r>
            <a:endParaRPr sz="2700">
              <a:latin typeface="Arial MT"/>
              <a:cs typeface="Arial MT"/>
            </a:endParaRPr>
          </a:p>
          <a:p>
            <a:pPr marL="22860">
              <a:lnSpc>
                <a:spcPts val="2865"/>
              </a:lnSpc>
            </a:pPr>
            <a:r>
              <a:rPr sz="2550" spc="-20" dirty="0">
                <a:latin typeface="Arial MT"/>
                <a:cs typeface="Arial MT"/>
              </a:rPr>
              <a:t>quality</a:t>
            </a:r>
            <a:r>
              <a:rPr sz="2550" spc="-120" dirty="0">
                <a:latin typeface="Arial MT"/>
                <a:cs typeface="Arial MT"/>
              </a:rPr>
              <a:t> </a:t>
            </a:r>
            <a:r>
              <a:rPr sz="2550" spc="-45" dirty="0">
                <a:latin typeface="Arial MT"/>
                <a:cs typeface="Arial MT"/>
              </a:rPr>
              <a:t>and</a:t>
            </a:r>
            <a:r>
              <a:rPr sz="2550" spc="-135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audit</a:t>
            </a:r>
            <a:r>
              <a:rPr sz="2550" spc="-80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readiness.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36100" y="7599539"/>
            <a:ext cx="7900670" cy="2072639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681355" marR="1261110" indent="57150">
              <a:lnSpc>
                <a:spcPts val="3700"/>
              </a:lnSpc>
              <a:spcBef>
                <a:spcPts val="750"/>
              </a:spcBef>
            </a:pPr>
            <a:r>
              <a:rPr sz="3600" spc="-110" dirty="0">
                <a:solidFill>
                  <a:srgbClr val="031A3A"/>
                </a:solidFill>
                <a:latin typeface="Arial MT"/>
                <a:cs typeface="Arial MT"/>
              </a:rPr>
              <a:t>Right</a:t>
            </a:r>
            <a:r>
              <a:rPr sz="3600" spc="-75" dirty="0">
                <a:solidFill>
                  <a:srgbClr val="031A3A"/>
                </a:solidFill>
                <a:latin typeface="Arial MT"/>
                <a:cs typeface="Arial MT"/>
              </a:rPr>
              <a:t> </a:t>
            </a:r>
            <a:r>
              <a:rPr sz="3600" spc="-55" dirty="0">
                <a:solidFill>
                  <a:srgbClr val="051F3D"/>
                </a:solidFill>
                <a:latin typeface="Arial MT"/>
                <a:cs typeface="Arial MT"/>
              </a:rPr>
              <a:t>question,</a:t>
            </a:r>
            <a:r>
              <a:rPr sz="3600" spc="-185" dirty="0">
                <a:solidFill>
                  <a:srgbClr val="051F3D"/>
                </a:solidFill>
                <a:latin typeface="Arial MT"/>
                <a:cs typeface="Arial MT"/>
              </a:rPr>
              <a:t> </a:t>
            </a:r>
            <a:r>
              <a:rPr sz="3600" spc="-40" dirty="0">
                <a:solidFill>
                  <a:srgbClr val="081F3D"/>
                </a:solidFill>
                <a:latin typeface="Arial MT"/>
                <a:cs typeface="Arial MT"/>
              </a:rPr>
              <a:t>directed</a:t>
            </a:r>
            <a:r>
              <a:rPr sz="3600" spc="-225" dirty="0">
                <a:solidFill>
                  <a:srgbClr val="081F3D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051A36"/>
                </a:solidFill>
                <a:latin typeface="Arial MT"/>
                <a:cs typeface="Arial MT"/>
              </a:rPr>
              <a:t>to</a:t>
            </a:r>
            <a:r>
              <a:rPr sz="3600" spc="-245" dirty="0">
                <a:solidFill>
                  <a:srgbClr val="051A36"/>
                </a:solidFill>
                <a:latin typeface="Arial MT"/>
                <a:cs typeface="Arial MT"/>
              </a:rPr>
              <a:t> </a:t>
            </a:r>
            <a:r>
              <a:rPr sz="3600" spc="-25" dirty="0">
                <a:solidFill>
                  <a:srgbClr val="081C3D"/>
                </a:solidFill>
                <a:latin typeface="Arial MT"/>
                <a:cs typeface="Arial MT"/>
              </a:rPr>
              <a:t>the </a:t>
            </a:r>
            <a:r>
              <a:rPr sz="3600" dirty="0">
                <a:solidFill>
                  <a:srgbClr val="0C213B"/>
                </a:solidFill>
                <a:latin typeface="Arial MT"/>
                <a:cs typeface="Arial MT"/>
              </a:rPr>
              <a:t>right</a:t>
            </a:r>
            <a:r>
              <a:rPr sz="3600" spc="-225" dirty="0">
                <a:solidFill>
                  <a:srgbClr val="0C213B"/>
                </a:solidFill>
                <a:latin typeface="Arial MT"/>
                <a:cs typeface="Arial MT"/>
              </a:rPr>
              <a:t> </a:t>
            </a:r>
            <a:r>
              <a:rPr sz="3600" spc="-55" dirty="0">
                <a:solidFill>
                  <a:srgbClr val="031831"/>
                </a:solidFill>
                <a:latin typeface="Arial MT"/>
                <a:cs typeface="Arial MT"/>
              </a:rPr>
              <a:t>reporter,</a:t>
            </a:r>
            <a:r>
              <a:rPr sz="3600" spc="-175" dirty="0">
                <a:solidFill>
                  <a:srgbClr val="031831"/>
                </a:solidFill>
                <a:latin typeface="Arial MT"/>
                <a:cs typeface="Arial MT"/>
              </a:rPr>
              <a:t> </a:t>
            </a:r>
            <a:r>
              <a:rPr sz="3600" spc="-70" dirty="0">
                <a:solidFill>
                  <a:srgbClr val="031A3A"/>
                </a:solidFill>
                <a:latin typeface="Arial MT"/>
                <a:cs typeface="Arial MT"/>
              </a:rPr>
              <a:t>at</a:t>
            </a:r>
            <a:r>
              <a:rPr sz="3600" spc="-190" dirty="0">
                <a:solidFill>
                  <a:srgbClr val="031A3A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031A3A"/>
                </a:solidFill>
                <a:latin typeface="Arial MT"/>
                <a:cs typeface="Arial MT"/>
              </a:rPr>
              <a:t>the</a:t>
            </a:r>
            <a:r>
              <a:rPr sz="3600" spc="-260" dirty="0">
                <a:solidFill>
                  <a:srgbClr val="031A3A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081C3A"/>
                </a:solidFill>
                <a:latin typeface="Arial MT"/>
                <a:cs typeface="Arial MT"/>
              </a:rPr>
              <a:t>right </a:t>
            </a:r>
            <a:r>
              <a:rPr sz="3600" spc="-20" dirty="0">
                <a:solidFill>
                  <a:srgbClr val="071F3B"/>
                </a:solidFill>
                <a:latin typeface="Arial MT"/>
                <a:cs typeface="Arial MT"/>
              </a:rPr>
              <a:t>time.</a:t>
            </a:r>
            <a:endParaRPr sz="3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  <a:tabLst>
                <a:tab pos="7417434" algn="l"/>
              </a:tabLst>
            </a:pPr>
            <a:r>
              <a:rPr sz="2550" u="sng" dirty="0">
                <a:uFill>
                  <a:solidFill>
                    <a:srgbClr val="9C874F"/>
                  </a:solidFill>
                </a:uFill>
                <a:latin typeface="Arial MT"/>
                <a:cs typeface="Arial MT"/>
              </a:rPr>
              <a:t>	</a:t>
            </a:r>
            <a:endParaRPr sz="2550" dirty="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2090"/>
              </a:spcBef>
            </a:pPr>
            <a:endParaRPr sz="1500" dirty="0">
              <a:latin typeface="Arial MT"/>
              <a:cs typeface="Arial M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E7D883-AEE3-7265-914F-4674E91B3A40}"/>
              </a:ext>
            </a:extLst>
          </p:cNvPr>
          <p:cNvSpPr txBox="1"/>
          <p:nvPr/>
        </p:nvSpPr>
        <p:spPr>
          <a:xfrm>
            <a:off x="179071" y="3667248"/>
            <a:ext cx="39865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spc="-315" dirty="0">
                <a:solidFill>
                  <a:srgbClr val="C18715"/>
                </a:solidFill>
                <a:latin typeface="Arial MT"/>
                <a:cs typeface="Arial MT"/>
              </a:rPr>
              <a:t>        </a:t>
            </a:r>
            <a:r>
              <a:rPr lang="en-IN" sz="5400" b="1" spc="-315" dirty="0">
                <a:solidFill>
                  <a:srgbClr val="C18715"/>
                </a:solidFill>
                <a:latin typeface="Arial MT"/>
                <a:cs typeface="Arial MT"/>
              </a:rPr>
              <a:t>30  - 60</a:t>
            </a:r>
            <a:r>
              <a:rPr lang="en-IN" sz="5400" b="1" spc="-472" baseline="45977" dirty="0">
                <a:solidFill>
                  <a:srgbClr val="C18715"/>
                </a:solidFill>
                <a:latin typeface="Arial MT"/>
                <a:cs typeface="Arial MT"/>
              </a:rPr>
              <a:t> </a:t>
            </a:r>
            <a:r>
              <a:rPr lang="en-IN" sz="5400" b="1" spc="-615" dirty="0">
                <a:solidFill>
                  <a:srgbClr val="C38C18"/>
                </a:solidFill>
                <a:latin typeface="Arial MT"/>
                <a:cs typeface="Arial MT"/>
              </a:rPr>
              <a:t>%</a:t>
            </a:r>
            <a:endParaRPr lang="en-IN" sz="5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6500" y="1981200"/>
            <a:ext cx="6426200" cy="70485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159" rIns="0" bIns="0" rtlCol="0">
            <a:spAutoFit/>
          </a:bodyPr>
          <a:lstStyle/>
          <a:p>
            <a:pPr marL="271145">
              <a:lnSpc>
                <a:spcPct val="100000"/>
              </a:lnSpc>
              <a:spcBef>
                <a:spcPts val="95"/>
              </a:spcBef>
            </a:pPr>
            <a:r>
              <a:rPr sz="5350" dirty="0">
                <a:solidFill>
                  <a:srgbClr val="012F4F"/>
                </a:solidFill>
              </a:rPr>
              <a:t>A</a:t>
            </a:r>
            <a:r>
              <a:rPr sz="5350" spc="-105" dirty="0">
                <a:solidFill>
                  <a:srgbClr val="012F4F"/>
                </a:solidFill>
              </a:rPr>
              <a:t> </a:t>
            </a:r>
            <a:r>
              <a:rPr sz="5350" spc="-65" dirty="0">
                <a:solidFill>
                  <a:srgbClr val="032F54"/>
                </a:solidFill>
              </a:rPr>
              <a:t>Three-</a:t>
            </a:r>
            <a:r>
              <a:rPr sz="5350" dirty="0">
                <a:solidFill>
                  <a:srgbClr val="032F54"/>
                </a:solidFill>
              </a:rPr>
              <a:t>Layered</a:t>
            </a:r>
            <a:r>
              <a:rPr sz="5350" spc="530" dirty="0">
                <a:solidFill>
                  <a:srgbClr val="032F54"/>
                </a:solidFill>
              </a:rPr>
              <a:t> </a:t>
            </a:r>
            <a:r>
              <a:rPr sz="5350" dirty="0">
                <a:solidFill>
                  <a:srgbClr val="012B4F"/>
                </a:solidFill>
              </a:rPr>
              <a:t>Intelligence</a:t>
            </a:r>
            <a:r>
              <a:rPr sz="5350" spc="400" dirty="0">
                <a:solidFill>
                  <a:srgbClr val="012B4F"/>
                </a:solidFill>
              </a:rPr>
              <a:t> </a:t>
            </a:r>
            <a:r>
              <a:rPr sz="5350" spc="-10" dirty="0">
                <a:solidFill>
                  <a:srgbClr val="032F56"/>
                </a:solidFill>
              </a:rPr>
              <a:t>Engine</a:t>
            </a:r>
            <a:endParaRPr sz="5350"/>
          </a:p>
        </p:txBody>
      </p:sp>
      <p:sp>
        <p:nvSpPr>
          <p:cNvPr id="5" name="object 5"/>
          <p:cNvSpPr txBox="1"/>
          <p:nvPr/>
        </p:nvSpPr>
        <p:spPr>
          <a:xfrm>
            <a:off x="870913" y="3113263"/>
            <a:ext cx="2685415" cy="1939376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3335" marR="5080" indent="-1270">
              <a:lnSpc>
                <a:spcPct val="85300"/>
              </a:lnSpc>
              <a:spcBef>
                <a:spcPts val="434"/>
              </a:spcBef>
              <a:tabLst>
                <a:tab pos="2570480" algn="l"/>
              </a:tabLst>
            </a:pPr>
            <a:r>
              <a:rPr spc="-60" dirty="0">
                <a:latin typeface="Arial MT"/>
                <a:cs typeface="Arial MT"/>
              </a:rPr>
              <a:t>Function: </a:t>
            </a:r>
            <a:r>
              <a:rPr spc="-90" dirty="0">
                <a:latin typeface="Arial MT"/>
                <a:cs typeface="Arial MT"/>
              </a:rPr>
              <a:t>Ingests</a:t>
            </a:r>
            <a:r>
              <a:rPr spc="50" dirty="0">
                <a:latin typeface="Arial MT"/>
                <a:cs typeface="Arial MT"/>
              </a:rPr>
              <a:t> </a:t>
            </a:r>
            <a:r>
              <a:rPr spc="-125" dirty="0">
                <a:latin typeface="Arial MT"/>
                <a:cs typeface="Arial MT"/>
              </a:rPr>
              <a:t>case</a:t>
            </a:r>
            <a:r>
              <a:rPr spc="-20" dirty="0">
                <a:latin typeface="Arial MT"/>
                <a:cs typeface="Arial MT"/>
              </a:rPr>
              <a:t> data</a:t>
            </a:r>
            <a:r>
              <a:rPr dirty="0">
                <a:latin typeface="Arial MT"/>
                <a:cs typeface="Arial MT"/>
              </a:rPr>
              <a:t>	</a:t>
            </a:r>
            <a:r>
              <a:rPr spc="-969" dirty="0">
                <a:solidFill>
                  <a:srgbClr val="878787"/>
                </a:solidFill>
                <a:latin typeface="Arial MT"/>
                <a:cs typeface="Arial MT"/>
              </a:rPr>
              <a:t>—</a:t>
            </a:r>
            <a:r>
              <a:rPr spc="-110" dirty="0">
                <a:solidFill>
                  <a:srgbClr val="878787"/>
                </a:solidFill>
                <a:latin typeface="Arial MT"/>
                <a:cs typeface="Arial MT"/>
              </a:rPr>
              <a:t> </a:t>
            </a:r>
            <a:r>
              <a:rPr spc="-110" dirty="0">
                <a:latin typeface="Arial MT"/>
                <a:cs typeface="Arial MT"/>
              </a:rPr>
              <a:t>(Seriousness,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40" dirty="0">
                <a:latin typeface="Arial MT"/>
                <a:cs typeface="Arial MT"/>
              </a:rPr>
              <a:t>Expectedness, </a:t>
            </a:r>
            <a:r>
              <a:rPr spc="-95" dirty="0">
                <a:latin typeface="Arial MT"/>
                <a:cs typeface="Arial MT"/>
              </a:rPr>
              <a:t>Missing</a:t>
            </a:r>
            <a:r>
              <a:rPr spc="20" dirty="0">
                <a:latin typeface="Arial MT"/>
                <a:cs typeface="Arial MT"/>
              </a:rPr>
              <a:t> </a:t>
            </a:r>
            <a:r>
              <a:rPr spc="-45" dirty="0">
                <a:latin typeface="Arial MT"/>
                <a:cs typeface="Arial MT"/>
              </a:rPr>
              <a:t>critical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spc="-80" dirty="0">
                <a:latin typeface="Arial MT"/>
                <a:cs typeface="Arial MT"/>
              </a:rPr>
              <a:t>data,</a:t>
            </a:r>
            <a:r>
              <a:rPr spc="-8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Reporter </a:t>
            </a:r>
            <a:r>
              <a:rPr spc="-50" dirty="0">
                <a:latin typeface="Arial MT"/>
                <a:cs typeface="Arial MT"/>
              </a:rPr>
              <a:t>type)</a:t>
            </a:r>
            <a:r>
              <a:rPr spc="-65" dirty="0">
                <a:latin typeface="Arial MT"/>
                <a:cs typeface="Arial MT"/>
              </a:rPr>
              <a:t> </a:t>
            </a:r>
            <a:r>
              <a:rPr spc="-20" dirty="0">
                <a:latin typeface="Arial MT"/>
                <a:cs typeface="Arial MT"/>
              </a:rPr>
              <a:t>to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spc="-100" dirty="0">
                <a:latin typeface="Arial MT"/>
                <a:cs typeface="Arial MT"/>
              </a:rPr>
              <a:t>generate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spc="-280" dirty="0">
                <a:latin typeface="Arial MT"/>
                <a:cs typeface="Arial MT"/>
              </a:rPr>
              <a:t>a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Fpllow-</a:t>
            </a:r>
            <a:r>
              <a:rPr spc="500" dirty="0">
                <a:latin typeface="Arial MT"/>
                <a:cs typeface="Arial MT"/>
              </a:rPr>
              <a:t> </a:t>
            </a:r>
            <a:r>
              <a:rPr spc="-135" dirty="0">
                <a:latin typeface="Arial MT"/>
                <a:cs typeface="Arial MT"/>
              </a:rPr>
              <a:t>Up</a:t>
            </a:r>
            <a:r>
              <a:rPr spc="-105" dirty="0">
                <a:latin typeface="Arial MT"/>
                <a:cs typeface="Arial MT"/>
              </a:rPr>
              <a:t> </a:t>
            </a:r>
            <a:r>
              <a:rPr spc="-20" dirty="0">
                <a:latin typeface="Arial MT"/>
                <a:cs typeface="Arial MT"/>
              </a:rPr>
              <a:t>Priority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spc="-100" dirty="0">
                <a:latin typeface="Arial MT"/>
                <a:cs typeface="Arial MT"/>
              </a:rPr>
              <a:t>Score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[Low, </a:t>
            </a:r>
            <a:r>
              <a:rPr spc="-85" dirty="0">
                <a:latin typeface="Arial MT"/>
                <a:cs typeface="Arial MT"/>
              </a:rPr>
              <a:t>Medium,</a:t>
            </a:r>
            <a:r>
              <a:rPr spc="-9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High).</a:t>
            </a:r>
            <a:endParaRPr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687" y="5564363"/>
            <a:ext cx="2544445" cy="950594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 marR="5080" indent="3175">
              <a:lnSpc>
                <a:spcPct val="85000"/>
              </a:lnSpc>
              <a:spcBef>
                <a:spcPts val="440"/>
              </a:spcBef>
            </a:pPr>
            <a:r>
              <a:rPr sz="1700" spc="-55" dirty="0">
                <a:latin typeface="Arial MT"/>
                <a:cs typeface="Arial MT"/>
              </a:rPr>
              <a:t>Function: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spc="-100" dirty="0">
                <a:latin typeface="Arial MT"/>
                <a:cs typeface="Arial MT"/>
              </a:rPr>
              <a:t>Deploys</a:t>
            </a:r>
            <a:r>
              <a:rPr sz="1700" spc="1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short, </a:t>
            </a:r>
            <a:r>
              <a:rPr sz="1700" spc="-70" dirty="0">
                <a:latin typeface="Arial MT"/>
                <a:cs typeface="Arial MT"/>
              </a:rPr>
              <a:t>contextual,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spc="-120" dirty="0">
                <a:latin typeface="Arial MT"/>
                <a:cs typeface="Arial MT"/>
              </a:rPr>
              <a:t>and</a:t>
            </a:r>
            <a:r>
              <a:rPr sz="1700" spc="15" dirty="0">
                <a:latin typeface="Arial MT"/>
                <a:cs typeface="Arial MT"/>
              </a:rPr>
              <a:t> </a:t>
            </a:r>
            <a:r>
              <a:rPr sz="1700" spc="-100" dirty="0">
                <a:latin typeface="Arial MT"/>
                <a:cs typeface="Arial MT"/>
              </a:rPr>
              <a:t>case-</a:t>
            </a:r>
            <a:r>
              <a:rPr sz="1700" spc="-65" dirty="0">
                <a:latin typeface="Arial MT"/>
                <a:cs typeface="Arial MT"/>
              </a:rPr>
              <a:t>specific </a:t>
            </a:r>
            <a:r>
              <a:rPr sz="1700" spc="-85" dirty="0">
                <a:latin typeface="Arial MT"/>
                <a:cs typeface="Arial MT"/>
              </a:rPr>
              <a:t>questionnaires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spc="-100" dirty="0">
                <a:latin typeface="Arial MT"/>
                <a:cs typeface="Arial MT"/>
              </a:rPr>
              <a:t>based</a:t>
            </a:r>
            <a:r>
              <a:rPr sz="1700" spc="70" dirty="0">
                <a:latin typeface="Arial MT"/>
                <a:cs typeface="Arial MT"/>
              </a:rPr>
              <a:t> </a:t>
            </a:r>
            <a:r>
              <a:rPr sz="1700" spc="-150" dirty="0">
                <a:latin typeface="Arial MT"/>
                <a:cs typeface="Arial MT"/>
              </a:rPr>
              <a:t>on</a:t>
            </a:r>
            <a:r>
              <a:rPr sz="1700" spc="3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the </a:t>
            </a:r>
            <a:r>
              <a:rPr sz="1700" spc="-50" dirty="0">
                <a:latin typeface="Arial MT"/>
                <a:cs typeface="Arial MT"/>
              </a:rPr>
              <a:t>risk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score.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0045" y="7808383"/>
            <a:ext cx="2597150" cy="94170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 indent="1270">
              <a:lnSpc>
                <a:spcPct val="89500"/>
              </a:lnSpc>
              <a:spcBef>
                <a:spcPts val="325"/>
              </a:spcBef>
            </a:pPr>
            <a:r>
              <a:rPr sz="1650" spc="-25" dirty="0">
                <a:latin typeface="Arial MT"/>
                <a:cs typeface="Arial MT"/>
              </a:rPr>
              <a:t>Function:</a:t>
            </a:r>
            <a:r>
              <a:rPr sz="1650" spc="-45" dirty="0">
                <a:latin typeface="Arial MT"/>
                <a:cs typeface="Arial MT"/>
              </a:rPr>
              <a:t> </a:t>
            </a:r>
            <a:r>
              <a:rPr sz="1650" spc="-100" dirty="0">
                <a:latin typeface="Arial MT"/>
                <a:cs typeface="Arial MT"/>
              </a:rPr>
              <a:t>Ensures</a:t>
            </a:r>
            <a:r>
              <a:rPr sz="1650" spc="15" dirty="0">
                <a:latin typeface="Arial MT"/>
                <a:cs typeface="Arial MT"/>
              </a:rPr>
              <a:t> </a:t>
            </a:r>
            <a:r>
              <a:rPr sz="1650" spc="-50" dirty="0">
                <a:latin typeface="Arial MT"/>
                <a:cs typeface="Arial MT"/>
              </a:rPr>
              <a:t>regulatory- </a:t>
            </a:r>
            <a:r>
              <a:rPr sz="1500" dirty="0">
                <a:latin typeface="Arial MT"/>
                <a:cs typeface="Arial MT"/>
              </a:rPr>
              <a:t>grade</a:t>
            </a:r>
            <a:r>
              <a:rPr sz="1500" spc="1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data</a:t>
            </a:r>
            <a:r>
              <a:rPr sz="1500" spc="1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integrity</a:t>
            </a:r>
            <a:r>
              <a:rPr sz="1500" spc="25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through </a:t>
            </a:r>
            <a:r>
              <a:rPr sz="1650" spc="-50" dirty="0">
                <a:latin typeface="Arial MT"/>
                <a:cs typeface="Arial MT"/>
              </a:rPr>
              <a:t>real-</a:t>
            </a:r>
            <a:r>
              <a:rPr sz="1650" spc="-10" dirty="0">
                <a:latin typeface="Arial MT"/>
                <a:cs typeface="Arial MT"/>
              </a:rPr>
              <a:t>time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spc="-50" dirty="0">
                <a:latin typeface="Arial MT"/>
                <a:cs typeface="Arial MT"/>
              </a:rPr>
              <a:t>validation</a:t>
            </a:r>
            <a:r>
              <a:rPr sz="1650" spc="-20" dirty="0">
                <a:latin typeface="Arial MT"/>
                <a:cs typeface="Arial MT"/>
              </a:rPr>
              <a:t> anci </a:t>
            </a:r>
            <a:r>
              <a:rPr sz="1700" spc="-85" dirty="0">
                <a:latin typeface="Arial MT"/>
                <a:cs typeface="Arial MT"/>
              </a:rPr>
              <a:t>structured</a:t>
            </a:r>
            <a:r>
              <a:rPr sz="1700" spc="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mapping.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00020" y="3195108"/>
            <a:ext cx="3128645" cy="6908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2680"/>
              </a:lnSpc>
              <a:spcBef>
                <a:spcPts val="90"/>
              </a:spcBef>
            </a:pPr>
            <a:r>
              <a:rPr sz="2300" spc="-35" dirty="0">
                <a:latin typeface="Arial MT"/>
                <a:cs typeface="Arial MT"/>
              </a:rPr>
              <a:t>Risk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spc="55" dirty="0">
                <a:latin typeface="Arial MT"/>
                <a:cs typeface="Arial MT"/>
              </a:rPr>
              <a:t>Prioritization</a:t>
            </a:r>
            <a:r>
              <a:rPr sz="2300" spc="-34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Layer</a:t>
            </a:r>
            <a:endParaRPr sz="2300">
              <a:latin typeface="Arial MT"/>
              <a:cs typeface="Arial MT"/>
            </a:endParaRPr>
          </a:p>
          <a:p>
            <a:pPr marR="3810" algn="ctr">
              <a:lnSpc>
                <a:spcPts val="2560"/>
              </a:lnSpc>
            </a:pPr>
            <a:r>
              <a:rPr sz="2200" dirty="0">
                <a:latin typeface="Arial MT"/>
                <a:cs typeface="Arial MT"/>
              </a:rPr>
              <a:t>(AI-</a:t>
            </a:r>
            <a:r>
              <a:rPr sz="2200" spc="-10" dirty="0">
                <a:latin typeface="Arial MT"/>
                <a:cs typeface="Arial MT"/>
              </a:rPr>
              <a:t>Enabled)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77366" y="5314950"/>
            <a:ext cx="2571115" cy="73025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390525" marR="5080" indent="-378460">
              <a:lnSpc>
                <a:spcPts val="2550"/>
              </a:lnSpc>
              <a:spcBef>
                <a:spcPts val="560"/>
              </a:spcBef>
            </a:pPr>
            <a:r>
              <a:rPr sz="2500" spc="-80" dirty="0">
                <a:latin typeface="Arial MT"/>
                <a:cs typeface="Arial MT"/>
              </a:rPr>
              <a:t>Adaptive</a:t>
            </a:r>
            <a:r>
              <a:rPr sz="2500" spc="-75" dirty="0">
                <a:latin typeface="Arial MT"/>
                <a:cs typeface="Arial MT"/>
              </a:rPr>
              <a:t> </a:t>
            </a:r>
            <a:r>
              <a:rPr sz="2500" spc="-105" dirty="0">
                <a:latin typeface="Arial MT"/>
                <a:cs typeface="Arial MT"/>
              </a:rPr>
              <a:t>Follow-</a:t>
            </a:r>
            <a:r>
              <a:rPr sz="2500" spc="-100" dirty="0">
                <a:latin typeface="Arial MT"/>
                <a:cs typeface="Arial MT"/>
              </a:rPr>
              <a:t>Up </a:t>
            </a:r>
            <a:r>
              <a:rPr sz="2500" spc="-10" dirty="0">
                <a:latin typeface="Arial MT"/>
                <a:cs typeface="Arial MT"/>
              </a:rPr>
              <a:t>Orchestration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99624" y="7457369"/>
            <a:ext cx="2545715" cy="71374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 indent="334010">
              <a:lnSpc>
                <a:spcPts val="2500"/>
              </a:lnSpc>
              <a:spcBef>
                <a:spcPts val="530"/>
              </a:spcBef>
            </a:pPr>
            <a:r>
              <a:rPr sz="2400" spc="-105" dirty="0">
                <a:latin typeface="Arial MT"/>
                <a:cs typeface="Arial MT"/>
              </a:rPr>
              <a:t>Data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Quality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&amp; </a:t>
            </a:r>
            <a:r>
              <a:rPr sz="2400" spc="-80" dirty="0">
                <a:latin typeface="Arial MT"/>
                <a:cs typeface="Arial MT"/>
              </a:rPr>
              <a:t>Compliance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45" dirty="0">
                <a:latin typeface="Arial MT"/>
                <a:cs typeface="Arial MT"/>
              </a:rPr>
              <a:t>Engine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75341" y="5582002"/>
            <a:ext cx="3253359" cy="95282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3970" marR="5080" indent="-1905">
              <a:lnSpc>
                <a:spcPct val="94100"/>
              </a:lnSpc>
              <a:spcBef>
                <a:spcPts val="210"/>
              </a:spcBef>
            </a:pPr>
            <a:r>
              <a:rPr sz="1600" spc="-50" dirty="0">
                <a:latin typeface="Arial MT"/>
                <a:cs typeface="Arial MT"/>
              </a:rPr>
              <a:t>Key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Features: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Distinct </a:t>
            </a:r>
            <a:r>
              <a:rPr sz="1500" dirty="0">
                <a:latin typeface="Arial MT"/>
                <a:cs typeface="Arial MT"/>
              </a:rPr>
              <a:t>workflows</a:t>
            </a:r>
            <a:r>
              <a:rPr sz="1500" spc="204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for</a:t>
            </a:r>
            <a:r>
              <a:rPr sz="1500" spc="17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patients</a:t>
            </a:r>
            <a:r>
              <a:rPr sz="1500" spc="145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vs. </a:t>
            </a:r>
            <a:r>
              <a:rPr sz="1600" spc="-45" dirty="0">
                <a:latin typeface="Arial MT"/>
                <a:cs typeface="Arial MT"/>
              </a:rPr>
              <a:t>healthcare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40" dirty="0">
                <a:latin typeface="Arial MT"/>
                <a:cs typeface="Arial MT"/>
              </a:rPr>
              <a:t>professionals</a:t>
            </a:r>
            <a:r>
              <a:rPr sz="1600" spc="7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with </a:t>
            </a:r>
            <a:r>
              <a:rPr sz="1500" dirty="0">
                <a:latin typeface="Arial MT"/>
                <a:cs typeface="Arial MT"/>
              </a:rPr>
              <a:t>multilingual,</a:t>
            </a:r>
            <a:r>
              <a:rPr sz="1500" spc="28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region-</a:t>
            </a:r>
            <a:r>
              <a:rPr sz="1500" spc="-10" dirty="0">
                <a:latin typeface="Arial MT"/>
                <a:cs typeface="Arial MT"/>
              </a:rPr>
              <a:t>specific </a:t>
            </a:r>
            <a:r>
              <a:rPr sz="1600" spc="-10" dirty="0">
                <a:latin typeface="Arial MT"/>
                <a:cs typeface="Arial MT"/>
              </a:rPr>
              <a:t>templates.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474695" y="7579458"/>
            <a:ext cx="3477944" cy="719684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9685" marR="5080" indent="-7620">
              <a:lnSpc>
                <a:spcPct val="89700"/>
              </a:lnSpc>
              <a:spcBef>
                <a:spcPts val="320"/>
              </a:spcBef>
            </a:pPr>
            <a:r>
              <a:rPr sz="1650" spc="-95" dirty="0">
                <a:latin typeface="Arial MT"/>
                <a:cs typeface="Arial MT"/>
              </a:rPr>
              <a:t>Key</a:t>
            </a:r>
            <a:r>
              <a:rPr sz="1650" spc="-30" dirty="0">
                <a:latin typeface="Arial MT"/>
                <a:cs typeface="Arial MT"/>
              </a:rPr>
              <a:t> </a:t>
            </a:r>
            <a:r>
              <a:rPr sz="1650" spc="-45" dirty="0">
                <a:latin typeface="Arial MT"/>
                <a:cs typeface="Arial MT"/>
              </a:rPr>
              <a:t>Features:</a:t>
            </a:r>
            <a:r>
              <a:rPr sz="1650" spc="-75" dirty="0">
                <a:latin typeface="Arial MT"/>
                <a:cs typeface="Arial MT"/>
              </a:rPr>
              <a:t> </a:t>
            </a:r>
            <a:r>
              <a:rPr sz="1650" spc="-45" dirty="0">
                <a:latin typeface="Arial MT"/>
                <a:cs typeface="Arial MT"/>
              </a:rPr>
              <a:t>Mandatory</a:t>
            </a:r>
            <a:r>
              <a:rPr sz="1650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field </a:t>
            </a:r>
            <a:r>
              <a:rPr sz="1600" spc="-40" dirty="0">
                <a:latin typeface="Arial MT"/>
                <a:cs typeface="Arial MT"/>
              </a:rPr>
              <a:t>enforcement</a:t>
            </a:r>
            <a:r>
              <a:rPr sz="1600" spc="100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and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structured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spc="-30" dirty="0">
                <a:latin typeface="Arial MT"/>
                <a:cs typeface="Arial MT"/>
              </a:rPr>
              <a:t>E2B- </a:t>
            </a:r>
            <a:r>
              <a:rPr sz="1650" spc="-55" dirty="0">
                <a:latin typeface="Arial MT"/>
                <a:cs typeface="Arial MT"/>
              </a:rPr>
              <a:t>compliant</a:t>
            </a:r>
            <a:r>
              <a:rPr sz="1650" spc="60" dirty="0">
                <a:latin typeface="Arial MT"/>
                <a:cs typeface="Arial MT"/>
              </a:rPr>
              <a:t> </a:t>
            </a:r>
            <a:r>
              <a:rPr sz="1650" spc="-40" dirty="0">
                <a:latin typeface="Arial MT"/>
                <a:cs typeface="Arial MT"/>
              </a:rPr>
              <a:t>follow-</a:t>
            </a:r>
            <a:r>
              <a:rPr sz="1650" dirty="0">
                <a:latin typeface="Arial MT"/>
                <a:cs typeface="Arial MT"/>
              </a:rPr>
              <a:t>up</a:t>
            </a:r>
            <a:r>
              <a:rPr sz="1650" spc="-75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mapping.</a:t>
            </a:r>
            <a:endParaRPr sz="1650" dirty="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952639" y="2245430"/>
            <a:ext cx="2346960" cy="14992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805"/>
              </a:lnSpc>
              <a:spcBef>
                <a:spcPts val="120"/>
              </a:spcBef>
            </a:pPr>
            <a:r>
              <a:rPr sz="2550" spc="-60" dirty="0">
                <a:solidFill>
                  <a:srgbClr val="08233A"/>
                </a:solidFill>
                <a:latin typeface="Arial MT"/>
                <a:cs typeface="Arial MT"/>
              </a:rPr>
              <a:t>Governance</a:t>
            </a:r>
            <a:r>
              <a:rPr sz="2550" spc="-120" dirty="0">
                <a:solidFill>
                  <a:srgbClr val="08233A"/>
                </a:solidFill>
                <a:latin typeface="Arial MT"/>
                <a:cs typeface="Arial MT"/>
              </a:rPr>
              <a:t> </a:t>
            </a:r>
            <a:r>
              <a:rPr sz="2550" spc="-50" dirty="0">
                <a:solidFill>
                  <a:srgbClr val="05284D"/>
                </a:solidFill>
                <a:latin typeface="Arial MT"/>
                <a:cs typeface="Arial MT"/>
              </a:rPr>
              <a:t>&amp;</a:t>
            </a:r>
            <a:endParaRPr sz="2550">
              <a:latin typeface="Arial MT"/>
              <a:cs typeface="Arial MT"/>
            </a:endParaRPr>
          </a:p>
          <a:p>
            <a:pPr marL="12700">
              <a:lnSpc>
                <a:spcPts val="2985"/>
              </a:lnSpc>
            </a:pPr>
            <a:r>
              <a:rPr sz="2700" spc="-10" dirty="0">
                <a:solidFill>
                  <a:srgbClr val="08263F"/>
                </a:solidFill>
                <a:latin typeface="Arial MT"/>
                <a:cs typeface="Arial MT"/>
              </a:rPr>
              <a:t>Control</a:t>
            </a:r>
            <a:endParaRPr sz="2700">
              <a:latin typeface="Arial MT"/>
              <a:cs typeface="Arial MT"/>
            </a:endParaRPr>
          </a:p>
          <a:p>
            <a:pPr marL="216535" marR="5080" indent="-198755">
              <a:lnSpc>
                <a:spcPts val="1900"/>
              </a:lnSpc>
              <a:spcBef>
                <a:spcPts val="2040"/>
              </a:spcBef>
              <a:buChar char="•"/>
              <a:tabLst>
                <a:tab pos="219075" algn="l"/>
              </a:tabLst>
            </a:pPr>
            <a:r>
              <a:rPr sz="1650" spc="-60" dirty="0">
                <a:latin typeface="Arial MT"/>
                <a:cs typeface="Arial MT"/>
              </a:rPr>
              <a:t>Rule-</a:t>
            </a:r>
            <a:r>
              <a:rPr sz="1650" spc="-55" dirty="0">
                <a:latin typeface="Arial MT"/>
                <a:cs typeface="Arial MT"/>
              </a:rPr>
              <a:t>based</a:t>
            </a:r>
            <a:r>
              <a:rPr sz="1650" spc="-65" dirty="0">
                <a:latin typeface="Arial MT"/>
                <a:cs typeface="Arial MT"/>
              </a:rPr>
              <a:t> </a:t>
            </a:r>
            <a:r>
              <a:rPr sz="1650" spc="-40" dirty="0">
                <a:latin typeface="Arial MT"/>
                <a:cs typeface="Arial MT"/>
              </a:rPr>
              <a:t>medical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60" dirty="0">
                <a:latin typeface="Arial MT"/>
                <a:cs typeface="Arial MT"/>
              </a:rPr>
              <a:t>and 	</a:t>
            </a:r>
            <a:r>
              <a:rPr sz="1650" spc="-30" dirty="0">
                <a:latin typeface="Arial MT"/>
                <a:cs typeface="Arial MT"/>
              </a:rPr>
              <a:t>regulatory</a:t>
            </a:r>
            <a:r>
              <a:rPr sz="1650" spc="-5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validation.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958735" y="4036483"/>
            <a:ext cx="2254885" cy="99060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10820" marR="5080" indent="-198755">
              <a:lnSpc>
                <a:spcPct val="94300"/>
              </a:lnSpc>
              <a:spcBef>
                <a:spcPts val="229"/>
              </a:spcBef>
              <a:buChar char="•"/>
              <a:tabLst>
                <a:tab pos="212090" algn="l"/>
              </a:tabLst>
            </a:pPr>
            <a:r>
              <a:rPr sz="1650" spc="-35" dirty="0">
                <a:latin typeface="Arial MT"/>
                <a:cs typeface="Arial MT"/>
              </a:rPr>
              <a:t>Mandatory</a:t>
            </a:r>
            <a:r>
              <a:rPr sz="1650" spc="-50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Human 	</a:t>
            </a:r>
            <a:r>
              <a:rPr sz="1650" spc="-40" dirty="0">
                <a:latin typeface="Arial MT"/>
                <a:cs typeface="Arial MT"/>
              </a:rPr>
              <a:t>review</a:t>
            </a:r>
            <a:r>
              <a:rPr sz="1650" spc="-55" dirty="0">
                <a:latin typeface="Arial MT"/>
                <a:cs typeface="Arial MT"/>
              </a:rPr>
              <a:t> </a:t>
            </a:r>
            <a:r>
              <a:rPr sz="1650" spc="-50" dirty="0">
                <a:latin typeface="Arial MT"/>
                <a:cs typeface="Arial MT"/>
              </a:rPr>
              <a:t>and</a:t>
            </a:r>
            <a:r>
              <a:rPr sz="1650" spc="-70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override 	functionality</a:t>
            </a:r>
            <a:r>
              <a:rPr sz="1650" spc="-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to</a:t>
            </a:r>
            <a:r>
              <a:rPr sz="1650" spc="-114" dirty="0">
                <a:latin typeface="Arial MT"/>
                <a:cs typeface="Arial MT"/>
              </a:rPr>
              <a:t> </a:t>
            </a:r>
            <a:r>
              <a:rPr sz="1650" spc="-50" dirty="0">
                <a:latin typeface="Arial MT"/>
                <a:cs typeface="Arial MT"/>
              </a:rPr>
              <a:t>support 	</a:t>
            </a:r>
            <a:r>
              <a:rPr sz="1650" spc="-30" dirty="0">
                <a:latin typeface="Arial MT"/>
                <a:cs typeface="Arial MT"/>
              </a:rPr>
              <a:t>regulatory</a:t>
            </a:r>
            <a:r>
              <a:rPr sz="1650" spc="-45" dirty="0">
                <a:latin typeface="Arial MT"/>
                <a:cs typeface="Arial MT"/>
              </a:rPr>
              <a:t> </a:t>
            </a:r>
            <a:r>
              <a:rPr sz="1650" spc="-40" dirty="0">
                <a:latin typeface="Arial MT"/>
                <a:cs typeface="Arial MT"/>
              </a:rPr>
              <a:t>acceptance.</a:t>
            </a:r>
            <a:endParaRPr sz="1650" dirty="0">
              <a:latin typeface="Arial MT"/>
              <a:cs typeface="Arial M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68F702-6636-B9E1-964D-588BB15B5030}"/>
              </a:ext>
            </a:extLst>
          </p:cNvPr>
          <p:cNvSpPr/>
          <p:nvPr/>
        </p:nvSpPr>
        <p:spPr>
          <a:xfrm>
            <a:off x="10142220" y="3503830"/>
            <a:ext cx="3586480" cy="142557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Model Choice: </a:t>
            </a:r>
            <a:r>
              <a:rPr lang="en-US" dirty="0">
                <a:solidFill>
                  <a:schemeClr val="tx1"/>
                </a:solidFill>
              </a:rPr>
              <a:t>Utilizes explainable </a:t>
            </a:r>
            <a:r>
              <a:rPr lang="en-US" dirty="0" err="1">
                <a:solidFill>
                  <a:schemeClr val="tx1"/>
                </a:solidFill>
              </a:rPr>
              <a:t>mashine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iearning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modeis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e.g</a:t>
            </a:r>
            <a:r>
              <a:rPr lang="en-US" dirty="0">
                <a:solidFill>
                  <a:schemeClr val="tx1"/>
                </a:solidFill>
              </a:rPr>
              <a:t>, logistic regression, tree-based </a:t>
            </a:r>
            <a:r>
              <a:rPr lang="en-US" dirty="0" err="1">
                <a:solidFill>
                  <a:schemeClr val="tx1"/>
                </a:solidFill>
              </a:rPr>
              <a:t>modeis</a:t>
            </a:r>
            <a:r>
              <a:rPr lang="en-US" dirty="0">
                <a:solidFill>
                  <a:schemeClr val="tx1"/>
                </a:solidFill>
              </a:rPr>
              <a:t>) for full transparency.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900" y="5613400"/>
            <a:ext cx="723900" cy="723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7900" y="4356100"/>
            <a:ext cx="723900" cy="736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7900" y="3060700"/>
            <a:ext cx="711200" cy="8001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721100" y="7821083"/>
            <a:ext cx="4614545" cy="0"/>
          </a:xfrm>
          <a:custGeom>
            <a:avLst/>
            <a:gdLst/>
            <a:ahLst/>
            <a:cxnLst/>
            <a:rect l="l" t="t" r="r" b="b"/>
            <a:pathLst>
              <a:path w="4614545">
                <a:moveTo>
                  <a:pt x="0" y="0"/>
                </a:moveTo>
                <a:lnTo>
                  <a:pt x="4614333" y="0"/>
                </a:lnTo>
              </a:path>
            </a:pathLst>
          </a:custGeom>
          <a:ln w="4233">
            <a:solidFill>
              <a:srgbClr val="70706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56700" y="7829550"/>
            <a:ext cx="4610100" cy="0"/>
          </a:xfrm>
          <a:custGeom>
            <a:avLst/>
            <a:gdLst/>
            <a:ahLst/>
            <a:cxnLst/>
            <a:rect l="l" t="t" r="r" b="b"/>
            <a:pathLst>
              <a:path w="4610100">
                <a:moveTo>
                  <a:pt x="0" y="0"/>
                </a:moveTo>
                <a:lnTo>
                  <a:pt x="4610100" y="0"/>
                </a:lnTo>
              </a:path>
            </a:pathLst>
          </a:custGeom>
          <a:ln w="12700">
            <a:solidFill>
              <a:srgbClr val="72726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82900" y="7416800"/>
            <a:ext cx="825500" cy="8255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31200" y="7416800"/>
            <a:ext cx="812800" cy="8255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766800" y="7416800"/>
            <a:ext cx="825500" cy="8255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6871" rIns="0" bIns="0" rtlCol="0">
            <a:spAutoFit/>
          </a:bodyPr>
          <a:lstStyle/>
          <a:p>
            <a:pPr marL="346075">
              <a:lnSpc>
                <a:spcPct val="100000"/>
              </a:lnSpc>
              <a:spcBef>
                <a:spcPts val="105"/>
              </a:spcBef>
            </a:pPr>
            <a:r>
              <a:rPr sz="5550" spc="75" dirty="0">
                <a:solidFill>
                  <a:srgbClr val="013159"/>
                </a:solidFill>
              </a:rPr>
              <a:t>Engineered</a:t>
            </a:r>
            <a:r>
              <a:rPr sz="5550" spc="240" dirty="0">
                <a:solidFill>
                  <a:srgbClr val="013159"/>
                </a:solidFill>
              </a:rPr>
              <a:t> </a:t>
            </a:r>
            <a:r>
              <a:rPr sz="5550" spc="155" dirty="0">
                <a:solidFill>
                  <a:srgbClr val="012D52"/>
                </a:solidFill>
              </a:rPr>
              <a:t>for</a:t>
            </a:r>
            <a:r>
              <a:rPr sz="5550" spc="-105" dirty="0">
                <a:solidFill>
                  <a:srgbClr val="012D52"/>
                </a:solidFill>
              </a:rPr>
              <a:t> </a:t>
            </a:r>
            <a:r>
              <a:rPr sz="5550" spc="100" dirty="0">
                <a:solidFill>
                  <a:srgbClr val="012B4F"/>
                </a:solidFill>
              </a:rPr>
              <a:t>Seamless</a:t>
            </a:r>
            <a:r>
              <a:rPr sz="5550" spc="-70" dirty="0">
                <a:solidFill>
                  <a:srgbClr val="012B4F"/>
                </a:solidFill>
              </a:rPr>
              <a:t> </a:t>
            </a:r>
            <a:r>
              <a:rPr sz="5550" spc="65" dirty="0">
                <a:solidFill>
                  <a:srgbClr val="012D52"/>
                </a:solidFill>
              </a:rPr>
              <a:t>Integration</a:t>
            </a:r>
            <a:r>
              <a:rPr sz="5550" spc="375" dirty="0">
                <a:solidFill>
                  <a:srgbClr val="012D52"/>
                </a:solidFill>
              </a:rPr>
              <a:t> </a:t>
            </a:r>
            <a:r>
              <a:rPr sz="5550" spc="75" dirty="0">
                <a:solidFill>
                  <a:srgbClr val="01335B"/>
                </a:solidFill>
              </a:rPr>
              <a:t>&amp;</a:t>
            </a:r>
            <a:r>
              <a:rPr sz="5550" spc="-70" dirty="0">
                <a:solidFill>
                  <a:srgbClr val="01335B"/>
                </a:solidFill>
              </a:rPr>
              <a:t> </a:t>
            </a:r>
            <a:r>
              <a:rPr sz="5550" spc="65" dirty="0">
                <a:solidFill>
                  <a:srgbClr val="032A4F"/>
                </a:solidFill>
              </a:rPr>
              <a:t>Scalability</a:t>
            </a:r>
            <a:endParaRPr sz="5550"/>
          </a:p>
        </p:txBody>
      </p:sp>
      <p:sp>
        <p:nvSpPr>
          <p:cNvPr id="11" name="object 11"/>
          <p:cNvSpPr txBox="1"/>
          <p:nvPr/>
        </p:nvSpPr>
        <p:spPr>
          <a:xfrm>
            <a:off x="968804" y="2247194"/>
            <a:ext cx="5673090" cy="4084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50" dirty="0">
                <a:latin typeface="Arial MT"/>
                <a:cs typeface="Arial MT"/>
              </a:rPr>
              <a:t>Technical Feasibility</a:t>
            </a:r>
          </a:p>
          <a:p>
            <a:pPr marL="974725" marR="5080" indent="-1270">
              <a:lnSpc>
                <a:spcPct val="92900"/>
              </a:lnSpc>
              <a:spcBef>
                <a:spcPts val="2245"/>
              </a:spcBef>
            </a:pPr>
            <a:r>
              <a:rPr sz="2400" dirty="0">
                <a:latin typeface="Arial MT"/>
                <a:cs typeface="Arial MT"/>
              </a:rPr>
              <a:t>Foundation: Built on established pharmacovigilance standards (ICSR, E2B).</a:t>
            </a:r>
          </a:p>
          <a:p>
            <a:pPr marL="975360" marR="280035" indent="-7620">
              <a:lnSpc>
                <a:spcPts val="2700"/>
              </a:lnSpc>
              <a:spcBef>
                <a:spcPts val="2360"/>
              </a:spcBef>
            </a:pPr>
            <a:r>
              <a:rPr sz="2600" dirty="0">
                <a:latin typeface="Arial MT"/>
                <a:cs typeface="Arial MT"/>
              </a:rPr>
              <a:t>Integration: Designed for modular </a:t>
            </a:r>
            <a:r>
              <a:rPr sz="2700" dirty="0">
                <a:latin typeface="Arial MT"/>
                <a:cs typeface="Arial MT"/>
              </a:rPr>
              <a:t>integration with existing safety </a:t>
            </a:r>
            <a:r>
              <a:rPr sz="2550" dirty="0">
                <a:latin typeface="Arial MT"/>
                <a:cs typeface="Arial MT"/>
              </a:rPr>
              <a:t>databases.</a:t>
            </a:r>
          </a:p>
          <a:p>
            <a:pPr marL="975360">
              <a:lnSpc>
                <a:spcPts val="2740"/>
              </a:lnSpc>
              <a:spcBef>
                <a:spcPts val="1960"/>
              </a:spcBef>
            </a:pPr>
            <a:r>
              <a:rPr sz="2400" dirty="0">
                <a:latin typeface="Arial MT"/>
                <a:cs typeface="Arial MT"/>
              </a:rPr>
              <a:t>Deployment: Phased rollout by</a:t>
            </a:r>
          </a:p>
          <a:p>
            <a:pPr marL="978535">
              <a:lnSpc>
                <a:spcPts val="2860"/>
              </a:lnSpc>
            </a:pPr>
            <a:r>
              <a:rPr sz="2500" dirty="0">
                <a:latin typeface="Arial MT"/>
                <a:cs typeface="Arial MT"/>
              </a:rPr>
              <a:t>product, region, or organization.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61339" y="6751814"/>
            <a:ext cx="5815330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50" dirty="0">
                <a:latin typeface="Arial MT"/>
                <a:cs typeface="Arial MT"/>
              </a:rPr>
              <a:t>Phased</a:t>
            </a:r>
            <a:r>
              <a:rPr sz="2950" spc="25" dirty="0">
                <a:latin typeface="Arial MT"/>
                <a:cs typeface="Arial MT"/>
              </a:rPr>
              <a:t> </a:t>
            </a:r>
            <a:r>
              <a:rPr sz="2950" spc="60" dirty="0">
                <a:latin typeface="Arial MT"/>
                <a:cs typeface="Arial MT"/>
              </a:rPr>
              <a:t>Rollout</a:t>
            </a:r>
            <a:r>
              <a:rPr sz="2950" spc="13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Plan</a:t>
            </a:r>
            <a:r>
              <a:rPr sz="2950" spc="90" dirty="0">
                <a:latin typeface="Arial MT"/>
                <a:cs typeface="Arial MT"/>
              </a:rPr>
              <a:t> </a:t>
            </a:r>
            <a:r>
              <a:rPr sz="2950" spc="50" dirty="0">
                <a:latin typeface="Arial MT"/>
                <a:cs typeface="Arial MT"/>
              </a:rPr>
              <a:t>(Next</a:t>
            </a:r>
            <a:r>
              <a:rPr sz="2950" spc="195" dirty="0">
                <a:latin typeface="Arial MT"/>
                <a:cs typeface="Arial MT"/>
              </a:rPr>
              <a:t> </a:t>
            </a:r>
            <a:r>
              <a:rPr sz="2950" spc="45" dirty="0">
                <a:latin typeface="Arial MT"/>
                <a:cs typeface="Arial MT"/>
              </a:rPr>
              <a:t>Steps)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19183" y="8359069"/>
            <a:ext cx="4318000" cy="73914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95400" marR="5080" indent="-1283335">
              <a:lnSpc>
                <a:spcPts val="2700"/>
              </a:lnSpc>
              <a:spcBef>
                <a:spcPts val="370"/>
              </a:spcBef>
            </a:pPr>
            <a:r>
              <a:rPr sz="2400" spc="-65" dirty="0">
                <a:latin typeface="Arial MT"/>
                <a:cs typeface="Arial MT"/>
              </a:rPr>
              <a:t>Phase</a:t>
            </a:r>
            <a:r>
              <a:rPr sz="2400" spc="-190" dirty="0">
                <a:latin typeface="Arial MT"/>
                <a:cs typeface="Arial MT"/>
              </a:rPr>
              <a:t> </a:t>
            </a:r>
            <a:r>
              <a:rPr sz="2400" spc="-114" dirty="0">
                <a:latin typeface="Arial MT"/>
                <a:cs typeface="Arial MT"/>
              </a:rPr>
              <a:t>1: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40" dirty="0">
                <a:latin typeface="Arial MT"/>
                <a:cs typeface="Arial MT"/>
              </a:rPr>
              <a:t>Minimum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70" dirty="0">
                <a:latin typeface="Arial MT"/>
                <a:cs typeface="Arial MT"/>
              </a:rPr>
              <a:t>viable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product </a:t>
            </a:r>
            <a:r>
              <a:rPr sz="2400" spc="-10" dirty="0">
                <a:latin typeface="Arial MT"/>
                <a:cs typeface="Arial MT"/>
              </a:rPr>
              <a:t>development.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44187" y="2256013"/>
            <a:ext cx="5422265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50" dirty="0">
                <a:latin typeface="Arial MT"/>
                <a:cs typeface="Arial MT"/>
              </a:rPr>
              <a:t>Risk</a:t>
            </a:r>
            <a:r>
              <a:rPr sz="2950" spc="-75" dirty="0">
                <a:latin typeface="Arial MT"/>
                <a:cs typeface="Arial MT"/>
              </a:rPr>
              <a:t> </a:t>
            </a:r>
            <a:r>
              <a:rPr sz="2950" spc="80" dirty="0">
                <a:latin typeface="Arial MT"/>
                <a:cs typeface="Arial MT"/>
              </a:rPr>
              <a:t>Management</a:t>
            </a:r>
            <a:r>
              <a:rPr sz="2950" spc="360" dirty="0">
                <a:latin typeface="Arial MT"/>
                <a:cs typeface="Arial MT"/>
              </a:rPr>
              <a:t> </a:t>
            </a:r>
            <a:r>
              <a:rPr sz="2950" spc="-25" dirty="0">
                <a:solidFill>
                  <a:srgbClr val="111111"/>
                </a:solidFill>
                <a:latin typeface="Arial MT"/>
                <a:cs typeface="Arial MT"/>
              </a:rPr>
              <a:t>&amp;</a:t>
            </a:r>
            <a:r>
              <a:rPr sz="2950" spc="-2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950" spc="135" dirty="0">
                <a:latin typeface="Arial MT"/>
                <a:cs typeface="Arial MT"/>
              </a:rPr>
              <a:t>Mitigation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49735" y="2974269"/>
            <a:ext cx="583565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spc="-65" dirty="0">
                <a:latin typeface="Arial MT"/>
                <a:cs typeface="Arial MT"/>
              </a:rPr>
              <a:t>Risk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521388" y="2762651"/>
            <a:ext cx="4620895" cy="3459280"/>
          </a:xfrm>
          <a:prstGeom prst="rect">
            <a:avLst/>
          </a:prstGeom>
        </p:spPr>
        <p:txBody>
          <a:bodyPr vert="horz" wrap="square" lIns="0" tIns="227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sz="2400" dirty="0">
                <a:latin typeface="Arial MT"/>
                <a:cs typeface="Arial MT"/>
              </a:rPr>
              <a:t>Mitigation Strategy</a:t>
            </a:r>
          </a:p>
          <a:p>
            <a:pPr marL="24765" marR="441325" indent="-2540">
              <a:lnSpc>
                <a:spcPts val="2650"/>
              </a:lnSpc>
              <a:spcBef>
                <a:spcPts val="2100"/>
              </a:spcBef>
            </a:pPr>
            <a:r>
              <a:rPr sz="2500" dirty="0">
                <a:latin typeface="Arial MT"/>
                <a:cs typeface="Arial MT"/>
              </a:rPr>
              <a:t>Region-specific compliance and governance framework.</a:t>
            </a:r>
          </a:p>
          <a:p>
            <a:pPr marL="27305" marR="5080" indent="-4445">
              <a:lnSpc>
                <a:spcPts val="2700"/>
              </a:lnSpc>
              <a:spcBef>
                <a:spcPts val="1960"/>
              </a:spcBef>
            </a:pPr>
            <a:r>
              <a:rPr sz="2500" dirty="0">
                <a:latin typeface="Arial MT"/>
                <a:cs typeface="Arial MT"/>
              </a:rPr>
              <a:t>Explainable models with mandatory human oversight.</a:t>
            </a:r>
          </a:p>
          <a:p>
            <a:pPr marL="24130">
              <a:lnSpc>
                <a:spcPts val="2825"/>
              </a:lnSpc>
              <a:spcBef>
                <a:spcPts val="1660"/>
              </a:spcBef>
            </a:pPr>
            <a:r>
              <a:rPr sz="2500" dirty="0">
                <a:latin typeface="Arial MT"/>
                <a:cs typeface="Arial MT"/>
              </a:rPr>
              <a:t>Minimal-input, trust-first user</a:t>
            </a:r>
          </a:p>
          <a:p>
            <a:pPr marL="23495">
              <a:lnSpc>
                <a:spcPts val="2885"/>
              </a:lnSpc>
            </a:pPr>
            <a:r>
              <a:rPr sz="2550" dirty="0">
                <a:latin typeface="Arial MT"/>
                <a:cs typeface="Arial MT"/>
              </a:rPr>
              <a:t>experience design.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850864" y="3745088"/>
            <a:ext cx="3041650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-25" dirty="0">
                <a:latin typeface="Arial MT"/>
                <a:cs typeface="Arial MT"/>
              </a:rPr>
              <a:t>Data</a:t>
            </a:r>
            <a:r>
              <a:rPr sz="2350" spc="-14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privacy</a:t>
            </a:r>
            <a:r>
              <a:rPr sz="2350" spc="-60" dirty="0">
                <a:latin typeface="Arial MT"/>
                <a:cs typeface="Arial MT"/>
              </a:rPr>
              <a:t> </a:t>
            </a:r>
            <a:r>
              <a:rPr sz="2350" spc="-165" dirty="0">
                <a:latin typeface="Arial MT"/>
                <a:cs typeface="Arial MT"/>
              </a:rPr>
              <a:t>&amp;</a:t>
            </a:r>
            <a:r>
              <a:rPr sz="2350" spc="-75" dirty="0">
                <a:latin typeface="Arial MT"/>
                <a:cs typeface="Arial MT"/>
              </a:rPr>
              <a:t> </a:t>
            </a:r>
            <a:r>
              <a:rPr sz="2350" spc="-20" dirty="0">
                <a:latin typeface="Arial MT"/>
                <a:cs typeface="Arial MT"/>
              </a:rPr>
              <a:t>Security</a:t>
            </a:r>
            <a:endParaRPr sz="2350" dirty="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61816" y="4631972"/>
            <a:ext cx="3390383" cy="43922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dirty="0">
                <a:latin typeface="Arial MT"/>
                <a:cs typeface="Arial MT"/>
              </a:rPr>
              <a:t>AI trust and adoption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850427" y="5618338"/>
            <a:ext cx="284289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-25" dirty="0">
                <a:latin typeface="Arial MT"/>
                <a:cs typeface="Arial MT"/>
              </a:rPr>
              <a:t>Reporter</a:t>
            </a:r>
            <a:r>
              <a:rPr sz="2350" spc="-45" dirty="0">
                <a:latin typeface="Arial MT"/>
                <a:cs typeface="Arial MT"/>
              </a:rPr>
              <a:t> </a:t>
            </a:r>
            <a:r>
              <a:rPr sz="2350" spc="-55" dirty="0">
                <a:latin typeface="Arial MT"/>
                <a:cs typeface="Arial MT"/>
              </a:rPr>
              <a:t>engagement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18283" y="8359069"/>
            <a:ext cx="4231640" cy="73914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129665" marR="5080" indent="-1117600">
              <a:lnSpc>
                <a:spcPts val="2700"/>
              </a:lnSpc>
              <a:spcBef>
                <a:spcPts val="370"/>
              </a:spcBef>
            </a:pPr>
            <a:r>
              <a:rPr sz="2400" spc="-65" dirty="0">
                <a:latin typeface="Arial MT"/>
                <a:cs typeface="Arial MT"/>
              </a:rPr>
              <a:t>Phase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2: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Pilot</a:t>
            </a:r>
            <a:r>
              <a:rPr sz="2400" spc="55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implementation</a:t>
            </a:r>
            <a:r>
              <a:rPr sz="2400" spc="-2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single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region.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117383" y="8359069"/>
            <a:ext cx="4138295" cy="130746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065" marR="52069" algn="ctr">
              <a:lnSpc>
                <a:spcPts val="2700"/>
              </a:lnSpc>
              <a:spcBef>
                <a:spcPts val="370"/>
              </a:spcBef>
            </a:pPr>
            <a:r>
              <a:rPr sz="2400" spc="-60" dirty="0">
                <a:latin typeface="Arial MT"/>
                <a:cs typeface="Arial MT"/>
              </a:rPr>
              <a:t>Phase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95" dirty="0">
                <a:latin typeface="Arial MT"/>
                <a:cs typeface="Arial MT"/>
              </a:rPr>
              <a:t>3:</a:t>
            </a:r>
            <a:r>
              <a:rPr sz="2400" spc="-250" dirty="0">
                <a:latin typeface="Arial MT"/>
                <a:cs typeface="Arial MT"/>
              </a:rPr>
              <a:t> </a:t>
            </a:r>
            <a:r>
              <a:rPr sz="2400" spc="-70" dirty="0">
                <a:latin typeface="Arial MT"/>
                <a:cs typeface="Arial MT"/>
              </a:rPr>
              <a:t>KPI-</a:t>
            </a:r>
            <a:r>
              <a:rPr sz="2400" spc="-30" dirty="0">
                <a:latin typeface="Arial MT"/>
                <a:cs typeface="Arial MT"/>
              </a:rPr>
              <a:t>driven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65" dirty="0">
                <a:latin typeface="Arial MT"/>
                <a:cs typeface="Arial MT"/>
              </a:rPr>
              <a:t>evaluation, </a:t>
            </a:r>
            <a:r>
              <a:rPr sz="2400" spc="-35" dirty="0">
                <a:latin typeface="Arial MT"/>
                <a:cs typeface="Arial MT"/>
              </a:rPr>
              <a:t>refinement,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and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65" dirty="0">
                <a:latin typeface="Arial MT"/>
                <a:cs typeface="Arial MT"/>
              </a:rPr>
              <a:t>scalable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global </a:t>
            </a:r>
            <a:r>
              <a:rPr sz="2400" spc="-20" dirty="0">
                <a:latin typeface="Arial MT"/>
                <a:cs typeface="Arial MT"/>
              </a:rPr>
              <a:t>rollout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planning.</a:t>
            </a:r>
            <a:endParaRPr sz="2400" dirty="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160"/>
              </a:spcBef>
            </a:pPr>
            <a:endParaRPr sz="13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9102671"/>
            <a:ext cx="17475200" cy="625529"/>
          </a:xfrm>
          <a:custGeom>
            <a:avLst/>
            <a:gdLst/>
            <a:ahLst/>
            <a:cxnLst/>
            <a:rect l="l" t="t" r="r" b="b"/>
            <a:pathLst>
              <a:path w="1460500" h="520700">
                <a:moveTo>
                  <a:pt x="1460500" y="520700"/>
                </a:moveTo>
                <a:lnTo>
                  <a:pt x="0" y="520700"/>
                </a:lnTo>
                <a:lnTo>
                  <a:pt x="0" y="0"/>
                </a:lnTo>
                <a:lnTo>
                  <a:pt x="1460500" y="0"/>
                </a:lnTo>
                <a:lnTo>
                  <a:pt x="1460500" y="520700"/>
                </a:lnTo>
                <a:close/>
              </a:path>
            </a:pathLst>
          </a:custGeom>
          <a:solidFill>
            <a:srgbClr val="053159"/>
          </a:solidFill>
        </p:spPr>
        <p:txBody>
          <a:bodyPr wrap="square" lIns="0" tIns="0" rIns="0" bIns="0" rtlCol="0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   Designed for Inspection Readiness , Balanced Automation and Human Accountability</a:t>
            </a:r>
            <a:endParaRPr sz="2800" b="1" dirty="0">
              <a:solidFill>
                <a:schemeClr val="bg1"/>
              </a:solidFill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8600" y="6273800"/>
            <a:ext cx="812800" cy="49530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699893" y="538691"/>
            <a:ext cx="15907385" cy="1825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200" dirty="0">
                <a:solidFill>
                  <a:srgbClr val="03335B"/>
                </a:solidFill>
                <a:latin typeface="Times New Roman"/>
                <a:cs typeface="Times New Roman"/>
              </a:rPr>
              <a:t>Driving</a:t>
            </a:r>
            <a:r>
              <a:rPr sz="5200" spc="110" dirty="0">
                <a:solidFill>
                  <a:srgbClr val="03335B"/>
                </a:solidFill>
                <a:latin typeface="Times New Roman"/>
                <a:cs typeface="Times New Roman"/>
              </a:rPr>
              <a:t> </a:t>
            </a:r>
            <a:r>
              <a:rPr sz="5200" spc="140" dirty="0">
                <a:solidFill>
                  <a:srgbClr val="012F59"/>
                </a:solidFill>
                <a:latin typeface="Times New Roman"/>
                <a:cs typeface="Times New Roman"/>
              </a:rPr>
              <a:t>Measurable</a:t>
            </a:r>
            <a:r>
              <a:rPr sz="5200" spc="229" dirty="0">
                <a:solidFill>
                  <a:srgbClr val="012F59"/>
                </a:solidFill>
                <a:latin typeface="Times New Roman"/>
                <a:cs typeface="Times New Roman"/>
              </a:rPr>
              <a:t> </a:t>
            </a:r>
            <a:r>
              <a:rPr sz="5200" spc="170" dirty="0">
                <a:solidFill>
                  <a:srgbClr val="052B52"/>
                </a:solidFill>
                <a:latin typeface="Times New Roman"/>
                <a:cs typeface="Times New Roman"/>
              </a:rPr>
              <a:t>Improvements</a:t>
            </a:r>
            <a:r>
              <a:rPr sz="5200" spc="280" dirty="0">
                <a:solidFill>
                  <a:srgbClr val="052B52"/>
                </a:solidFill>
                <a:latin typeface="Times New Roman"/>
                <a:cs typeface="Times New Roman"/>
              </a:rPr>
              <a:t> </a:t>
            </a:r>
            <a:r>
              <a:rPr sz="5200" spc="140" dirty="0">
                <a:solidFill>
                  <a:srgbClr val="052D4D"/>
                </a:solidFill>
                <a:latin typeface="Times New Roman"/>
                <a:cs typeface="Times New Roman"/>
              </a:rPr>
              <a:t>in</a:t>
            </a:r>
            <a:r>
              <a:rPr sz="5200" spc="-40" dirty="0">
                <a:solidFill>
                  <a:srgbClr val="052D4D"/>
                </a:solidFill>
                <a:latin typeface="Times New Roman"/>
                <a:cs typeface="Times New Roman"/>
              </a:rPr>
              <a:t> </a:t>
            </a:r>
            <a:r>
              <a:rPr sz="5200" dirty="0">
                <a:solidFill>
                  <a:srgbClr val="032B4B"/>
                </a:solidFill>
                <a:latin typeface="Times New Roman"/>
                <a:cs typeface="Times New Roman"/>
              </a:rPr>
              <a:t>Safety</a:t>
            </a:r>
            <a:r>
              <a:rPr sz="5200" spc="35" dirty="0">
                <a:solidFill>
                  <a:srgbClr val="032B4B"/>
                </a:solidFill>
                <a:latin typeface="Times New Roman"/>
                <a:cs typeface="Times New Roman"/>
              </a:rPr>
              <a:t> </a:t>
            </a:r>
            <a:r>
              <a:rPr sz="5200" spc="-530" dirty="0">
                <a:solidFill>
                  <a:srgbClr val="032F56"/>
                </a:solidFill>
                <a:latin typeface="Times New Roman"/>
                <a:cs typeface="Times New Roman"/>
              </a:rPr>
              <a:t>&amp;</a:t>
            </a:r>
            <a:r>
              <a:rPr sz="5200" spc="-80" dirty="0">
                <a:solidFill>
                  <a:srgbClr val="032F56"/>
                </a:solidFill>
                <a:latin typeface="Times New Roman"/>
                <a:cs typeface="Times New Roman"/>
              </a:rPr>
              <a:t> </a:t>
            </a:r>
            <a:r>
              <a:rPr sz="5200" spc="-10" dirty="0">
                <a:solidFill>
                  <a:srgbClr val="08345D"/>
                </a:solidFill>
                <a:latin typeface="Times New Roman"/>
                <a:cs typeface="Times New Roman"/>
              </a:rPr>
              <a:t>Efficiency</a:t>
            </a:r>
            <a:endParaRPr sz="520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3960"/>
              </a:spcBef>
            </a:pPr>
            <a:r>
              <a:rPr sz="3300" spc="65" dirty="0">
                <a:solidFill>
                  <a:srgbClr val="1F1F1F"/>
                </a:solidFill>
                <a:latin typeface="Arial MT"/>
                <a:cs typeface="Arial MT"/>
              </a:rPr>
              <a:t>Quantifiable</a:t>
            </a:r>
            <a:r>
              <a:rPr sz="3300" spc="23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3300" spc="95" dirty="0">
                <a:solidFill>
                  <a:srgbClr val="262626"/>
                </a:solidFill>
                <a:latin typeface="Arial MT"/>
                <a:cs typeface="Arial MT"/>
              </a:rPr>
              <a:t>Performance</a:t>
            </a:r>
            <a:r>
              <a:rPr sz="3300" spc="17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3300" spc="-10" dirty="0">
                <a:solidFill>
                  <a:srgbClr val="212121"/>
                </a:solidFill>
                <a:latin typeface="Arial MT"/>
                <a:cs typeface="Arial MT"/>
              </a:rPr>
              <a:t>Gains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72775" y="2710873"/>
            <a:ext cx="4065904" cy="2080698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7780" algn="ctr">
              <a:lnSpc>
                <a:spcPct val="100000"/>
              </a:lnSpc>
              <a:spcBef>
                <a:spcPts val="1205"/>
              </a:spcBef>
            </a:pPr>
            <a:r>
              <a:rPr sz="6300" spc="-375" dirty="0">
                <a:solidFill>
                  <a:srgbClr val="C18715"/>
                </a:solidFill>
                <a:latin typeface="Arial MT"/>
                <a:cs typeface="Arial MT"/>
              </a:rPr>
              <a:t>40</a:t>
            </a:r>
            <a:r>
              <a:rPr lang="en-US" sz="6300" spc="-375" dirty="0">
                <a:solidFill>
                  <a:srgbClr val="C18715"/>
                </a:solidFill>
                <a:latin typeface="Arial MT"/>
                <a:cs typeface="Arial MT"/>
              </a:rPr>
              <a:t> - </a:t>
            </a:r>
            <a:r>
              <a:rPr sz="6300" spc="-315" dirty="0">
                <a:solidFill>
                  <a:srgbClr val="C18715"/>
                </a:solidFill>
                <a:latin typeface="Arial MT"/>
                <a:cs typeface="Arial MT"/>
              </a:rPr>
              <a:t>60</a:t>
            </a:r>
            <a:r>
              <a:rPr lang="en-US" sz="4350" spc="-472" baseline="45977" dirty="0">
                <a:solidFill>
                  <a:srgbClr val="C18715"/>
                </a:solidFill>
                <a:latin typeface="Arial MT"/>
                <a:cs typeface="Arial MT"/>
              </a:rPr>
              <a:t> </a:t>
            </a:r>
            <a:r>
              <a:rPr lang="en-IN" sz="6600" spc="-615" dirty="0">
                <a:solidFill>
                  <a:srgbClr val="C38C18"/>
                </a:solidFill>
                <a:latin typeface="Arial MT"/>
                <a:cs typeface="Arial MT"/>
              </a:rPr>
              <a:t>%</a:t>
            </a:r>
            <a:endParaRPr sz="6300" dirty="0">
              <a:latin typeface="Arial MT"/>
              <a:cs typeface="Arial MT"/>
            </a:endParaRPr>
          </a:p>
          <a:p>
            <a:pPr marL="37465" marR="30480" algn="ctr">
              <a:lnSpc>
                <a:spcPts val="3100"/>
              </a:lnSpc>
              <a:spcBef>
                <a:spcPts val="860"/>
              </a:spcBef>
            </a:pPr>
            <a:r>
              <a:rPr sz="2850" spc="-95" dirty="0">
                <a:latin typeface="Arial MT"/>
                <a:cs typeface="Arial MT"/>
              </a:rPr>
              <a:t>Improvement</a:t>
            </a:r>
            <a:r>
              <a:rPr sz="2850" spc="85" dirty="0">
                <a:latin typeface="Arial MT"/>
                <a:cs typeface="Arial MT"/>
              </a:rPr>
              <a:t> </a:t>
            </a:r>
            <a:r>
              <a:rPr sz="2850" spc="-65" dirty="0">
                <a:latin typeface="Arial MT"/>
                <a:cs typeface="Arial MT"/>
              </a:rPr>
              <a:t>in</a:t>
            </a:r>
            <a:r>
              <a:rPr sz="2850" spc="-170" dirty="0">
                <a:latin typeface="Arial MT"/>
                <a:cs typeface="Arial MT"/>
              </a:rPr>
              <a:t> </a:t>
            </a:r>
            <a:r>
              <a:rPr sz="2850" spc="-135" dirty="0">
                <a:latin typeface="Arial MT"/>
                <a:cs typeface="Arial MT"/>
              </a:rPr>
              <a:t>FoIIow-</a:t>
            </a:r>
            <a:r>
              <a:rPr sz="2850" spc="-25" dirty="0">
                <a:latin typeface="Arial MT"/>
                <a:cs typeface="Arial MT"/>
              </a:rPr>
              <a:t>Up </a:t>
            </a:r>
            <a:r>
              <a:rPr sz="2850" spc="-175" dirty="0">
                <a:latin typeface="Arial MT"/>
                <a:cs typeface="Arial MT"/>
              </a:rPr>
              <a:t>Response</a:t>
            </a:r>
            <a:r>
              <a:rPr sz="2850" spc="15" dirty="0">
                <a:latin typeface="Arial MT"/>
                <a:cs typeface="Arial MT"/>
              </a:rPr>
              <a:t> </a:t>
            </a:r>
            <a:r>
              <a:rPr sz="2850" spc="-10" dirty="0">
                <a:latin typeface="Arial MT"/>
                <a:cs typeface="Arial MT"/>
              </a:rPr>
              <a:t>Rates</a:t>
            </a:r>
            <a:endParaRPr sz="2850" dirty="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43874" y="2673909"/>
            <a:ext cx="3545204" cy="205295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R="33655" algn="ctr">
              <a:lnSpc>
                <a:spcPct val="100000"/>
              </a:lnSpc>
              <a:spcBef>
                <a:spcPts val="1095"/>
              </a:spcBef>
            </a:pPr>
            <a:r>
              <a:rPr sz="6700" spc="-620" dirty="0">
                <a:solidFill>
                  <a:srgbClr val="C38C18"/>
                </a:solidFill>
                <a:latin typeface="Arial MT"/>
                <a:cs typeface="Arial MT"/>
              </a:rPr>
              <a:t>30</a:t>
            </a:r>
            <a:r>
              <a:rPr lang="en-US" sz="6700" spc="-620" dirty="0">
                <a:solidFill>
                  <a:srgbClr val="C38C18"/>
                </a:solidFill>
                <a:latin typeface="Arial MT"/>
                <a:cs typeface="Arial MT"/>
              </a:rPr>
              <a:t> - </a:t>
            </a:r>
            <a:r>
              <a:rPr sz="6700" spc="-615" dirty="0">
                <a:solidFill>
                  <a:srgbClr val="C38C18"/>
                </a:solidFill>
                <a:latin typeface="Arial MT"/>
                <a:cs typeface="Arial MT"/>
              </a:rPr>
              <a:t>50%</a:t>
            </a:r>
            <a:endParaRPr sz="6700" dirty="0">
              <a:latin typeface="Arial MT"/>
              <a:cs typeface="Arial MT"/>
            </a:endParaRPr>
          </a:p>
          <a:p>
            <a:pPr marL="12700" marR="5080" algn="ctr">
              <a:lnSpc>
                <a:spcPts val="3100"/>
              </a:lnSpc>
              <a:spcBef>
                <a:spcPts val="780"/>
              </a:spcBef>
            </a:pPr>
            <a:r>
              <a:rPr sz="2850" spc="-100" dirty="0">
                <a:latin typeface="Arial MT"/>
                <a:cs typeface="Arial MT"/>
              </a:rPr>
              <a:t>Reduction</a:t>
            </a:r>
            <a:r>
              <a:rPr sz="2850" spc="-30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in</a:t>
            </a:r>
            <a:r>
              <a:rPr sz="2850" spc="-180" dirty="0">
                <a:latin typeface="Arial MT"/>
                <a:cs typeface="Arial MT"/>
              </a:rPr>
              <a:t> </a:t>
            </a:r>
            <a:r>
              <a:rPr sz="2850" spc="-350" dirty="0">
                <a:latin typeface="Arial MT"/>
                <a:cs typeface="Arial MT"/>
              </a:rPr>
              <a:t>FoIIow—</a:t>
            </a:r>
            <a:r>
              <a:rPr sz="2850" spc="-415" dirty="0">
                <a:latin typeface="Arial MT"/>
                <a:cs typeface="Arial MT"/>
              </a:rPr>
              <a:t>Up </a:t>
            </a:r>
            <a:r>
              <a:rPr sz="2850" spc="-85" dirty="0">
                <a:latin typeface="Arial MT"/>
                <a:cs typeface="Arial MT"/>
              </a:rPr>
              <a:t>Cycle</a:t>
            </a:r>
            <a:r>
              <a:rPr sz="2850" spc="-110" dirty="0">
                <a:latin typeface="Arial MT"/>
                <a:cs typeface="Arial MT"/>
              </a:rPr>
              <a:t> </a:t>
            </a:r>
            <a:r>
              <a:rPr sz="2850" spc="-20" dirty="0">
                <a:latin typeface="Arial MT"/>
                <a:cs typeface="Arial MT"/>
              </a:rPr>
              <a:t>Time</a:t>
            </a:r>
            <a:endParaRPr sz="2850" dirty="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7834" y="5140828"/>
            <a:ext cx="6494780" cy="1476375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3650" spc="-10" dirty="0">
                <a:solidFill>
                  <a:srgbClr val="1A1A1A"/>
                </a:solidFill>
                <a:latin typeface="Arial MT"/>
                <a:cs typeface="Arial MT"/>
              </a:rPr>
              <a:t>Differentiated</a:t>
            </a:r>
            <a:r>
              <a:rPr sz="3650" spc="-2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3650" spc="-70" dirty="0">
                <a:solidFill>
                  <a:srgbClr val="1D1D1D"/>
                </a:solidFill>
                <a:latin typeface="Arial MT"/>
                <a:cs typeface="Arial MT"/>
              </a:rPr>
              <a:t>Stakeholder</a:t>
            </a:r>
            <a:r>
              <a:rPr sz="3650" spc="1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3650" spc="-75" dirty="0">
                <a:solidFill>
                  <a:srgbClr val="1F1F1F"/>
                </a:solidFill>
                <a:latin typeface="Arial MT"/>
                <a:cs typeface="Arial MT"/>
              </a:rPr>
              <a:t>Value</a:t>
            </a:r>
            <a:endParaRPr sz="3650">
              <a:latin typeface="Arial MT"/>
              <a:cs typeface="Arial MT"/>
            </a:endParaRPr>
          </a:p>
          <a:p>
            <a:pPr marL="1714500">
              <a:lnSpc>
                <a:spcPct val="100000"/>
              </a:lnSpc>
              <a:spcBef>
                <a:spcPts val="1270"/>
              </a:spcBef>
            </a:pPr>
            <a:r>
              <a:rPr sz="3750" spc="-315" dirty="0">
                <a:solidFill>
                  <a:srgbClr val="082138"/>
                </a:solidFill>
                <a:latin typeface="Arial MT"/>
                <a:cs typeface="Arial MT"/>
              </a:rPr>
              <a:t>O</a:t>
            </a:r>
            <a:endParaRPr sz="37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33172" y="6735992"/>
            <a:ext cx="3249295" cy="1799589"/>
          </a:xfrm>
          <a:prstGeom prst="rect">
            <a:avLst/>
          </a:prstGeom>
        </p:spPr>
        <p:txBody>
          <a:bodyPr vert="horz" wrap="square" lIns="0" tIns="223520" rIns="0" bIns="0" rtlCol="0">
            <a:spAutoFit/>
          </a:bodyPr>
          <a:lstStyle/>
          <a:p>
            <a:pPr marL="962660">
              <a:lnSpc>
                <a:spcPct val="100000"/>
              </a:lnSpc>
              <a:spcBef>
                <a:spcPts val="1760"/>
              </a:spcBef>
            </a:pPr>
            <a:r>
              <a:rPr sz="2850" spc="45" dirty="0">
                <a:solidFill>
                  <a:srgbClr val="0A2848"/>
                </a:solidFill>
                <a:latin typeface="Cambria"/>
                <a:cs typeface="Cambria"/>
              </a:rPr>
              <a:t>Patients</a:t>
            </a:r>
            <a:endParaRPr sz="2850">
              <a:latin typeface="Cambria"/>
              <a:cs typeface="Cambria"/>
            </a:endParaRPr>
          </a:p>
          <a:p>
            <a:pPr marL="12065" marR="5080" indent="24765" algn="ctr">
              <a:lnSpc>
                <a:spcPts val="2400"/>
              </a:lnSpc>
              <a:spcBef>
                <a:spcPts val="1710"/>
              </a:spcBef>
            </a:pPr>
            <a:r>
              <a:rPr sz="2300" spc="-95" dirty="0">
                <a:latin typeface="Arial MT"/>
                <a:cs typeface="Arial MT"/>
              </a:rPr>
              <a:t>Simplified</a:t>
            </a:r>
            <a:r>
              <a:rPr sz="2300" spc="-55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experience, </a:t>
            </a:r>
            <a:r>
              <a:rPr sz="2300" spc="-95" dirty="0">
                <a:latin typeface="Arial MT"/>
                <a:cs typeface="Arial MT"/>
              </a:rPr>
              <a:t>increased</a:t>
            </a:r>
            <a:r>
              <a:rPr sz="2300" spc="-40" dirty="0">
                <a:latin typeface="Arial MT"/>
                <a:cs typeface="Arial MT"/>
              </a:rPr>
              <a:t> trust,</a:t>
            </a:r>
            <a:r>
              <a:rPr sz="2300" spc="-120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and </a:t>
            </a:r>
            <a:r>
              <a:rPr sz="2300" spc="-95" dirty="0">
                <a:latin typeface="Arial MT"/>
                <a:cs typeface="Arial MT"/>
              </a:rPr>
              <a:t>improved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spc="-60" dirty="0">
                <a:latin typeface="Arial MT"/>
                <a:cs typeface="Arial MT"/>
              </a:rPr>
              <a:t>safety</a:t>
            </a:r>
            <a:r>
              <a:rPr sz="2300" spc="-95" dirty="0">
                <a:latin typeface="Arial MT"/>
                <a:cs typeface="Arial MT"/>
              </a:rPr>
              <a:t> </a:t>
            </a:r>
            <a:r>
              <a:rPr sz="2300" spc="-100" dirty="0">
                <a:latin typeface="Arial MT"/>
                <a:cs typeface="Arial MT"/>
              </a:rPr>
              <a:t>outcomes.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841519" y="6929614"/>
            <a:ext cx="3667760" cy="1888489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723900" marR="748030" indent="-8890" algn="ctr">
              <a:lnSpc>
                <a:spcPts val="3100"/>
              </a:lnSpc>
              <a:spcBef>
                <a:spcPts val="605"/>
              </a:spcBef>
            </a:pPr>
            <a:r>
              <a:rPr sz="2950" spc="-10" dirty="0">
                <a:solidFill>
                  <a:srgbClr val="082A46"/>
                </a:solidFill>
                <a:latin typeface="Cambria"/>
                <a:cs typeface="Cambria"/>
              </a:rPr>
              <a:t>Healthcare </a:t>
            </a:r>
            <a:r>
              <a:rPr sz="2950" spc="-10" dirty="0">
                <a:solidFill>
                  <a:srgbClr val="0A2848"/>
                </a:solidFill>
                <a:latin typeface="Cambria"/>
                <a:cs typeface="Cambria"/>
              </a:rPr>
              <a:t>Professionals</a:t>
            </a:r>
            <a:endParaRPr sz="2950">
              <a:latin typeface="Cambria"/>
              <a:cs typeface="Cambria"/>
            </a:endParaRPr>
          </a:p>
          <a:p>
            <a:pPr marL="12700" marR="5080" indent="-17145" algn="ctr">
              <a:lnSpc>
                <a:spcPct val="94000"/>
              </a:lnSpc>
              <a:spcBef>
                <a:spcPts val="685"/>
              </a:spcBef>
            </a:pPr>
            <a:r>
              <a:rPr sz="2150" spc="-20" dirty="0">
                <a:latin typeface="Arial MT"/>
                <a:cs typeface="Arial MT"/>
              </a:rPr>
              <a:t>Significantly</a:t>
            </a:r>
            <a:r>
              <a:rPr sz="2150" spc="1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reduced </a:t>
            </a:r>
            <a:r>
              <a:rPr sz="2150" dirty="0">
                <a:latin typeface="Arial MT"/>
                <a:cs typeface="Arial MT"/>
              </a:rPr>
              <a:t>administrative</a:t>
            </a:r>
            <a:r>
              <a:rPr sz="2150" spc="-10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burden, allowing</a:t>
            </a:r>
            <a:r>
              <a:rPr sz="2150" spc="-4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focus</a:t>
            </a:r>
            <a:r>
              <a:rPr sz="2150" spc="-50" dirty="0">
                <a:latin typeface="Arial MT"/>
                <a:cs typeface="Arial MT"/>
              </a:rPr>
              <a:t> on</a:t>
            </a:r>
            <a:r>
              <a:rPr sz="2150" spc="-10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patient</a:t>
            </a:r>
            <a:r>
              <a:rPr sz="2150" spc="-10" dirty="0">
                <a:latin typeface="Arial MT"/>
                <a:cs typeface="Arial MT"/>
              </a:rPr>
              <a:t> care.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987828" y="2712578"/>
            <a:ext cx="4542155" cy="2012950"/>
          </a:xfrm>
          <a:prstGeom prst="rect">
            <a:avLst/>
          </a:prstGeom>
        </p:spPr>
        <p:txBody>
          <a:bodyPr vert="horz" wrap="square" lIns="0" tIns="3543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90"/>
              </a:spcBef>
            </a:pPr>
            <a:r>
              <a:rPr sz="3850" spc="85" dirty="0">
                <a:solidFill>
                  <a:srgbClr val="BA8713"/>
                </a:solidFill>
                <a:latin typeface="Arial MT"/>
                <a:cs typeface="Arial MT"/>
              </a:rPr>
              <a:t>Early</a:t>
            </a:r>
            <a:r>
              <a:rPr sz="3850" spc="-30" dirty="0">
                <a:solidFill>
                  <a:srgbClr val="BA8713"/>
                </a:solidFill>
                <a:latin typeface="Arial MT"/>
                <a:cs typeface="Arial MT"/>
              </a:rPr>
              <a:t> </a:t>
            </a:r>
            <a:r>
              <a:rPr sz="3850" spc="245" dirty="0">
                <a:solidFill>
                  <a:srgbClr val="B3821C"/>
                </a:solidFill>
                <a:latin typeface="Arial MT"/>
                <a:cs typeface="Arial MT"/>
              </a:rPr>
              <a:t>Identification</a:t>
            </a:r>
            <a:endParaRPr sz="3850">
              <a:latin typeface="Arial MT"/>
              <a:cs typeface="Arial MT"/>
            </a:endParaRPr>
          </a:p>
          <a:p>
            <a:pPr marL="116205" marR="125095" algn="ctr">
              <a:lnSpc>
                <a:spcPts val="3100"/>
              </a:lnSpc>
              <a:spcBef>
                <a:spcPts val="2200"/>
              </a:spcBef>
            </a:pPr>
            <a:r>
              <a:rPr sz="2750" dirty="0">
                <a:latin typeface="Arial MT"/>
                <a:cs typeface="Arial MT"/>
              </a:rPr>
              <a:t>of</a:t>
            </a:r>
            <a:r>
              <a:rPr sz="2750" spc="-13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Potential</a:t>
            </a:r>
            <a:r>
              <a:rPr sz="2750" spc="-7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Safety</a:t>
            </a:r>
            <a:r>
              <a:rPr sz="2750" spc="-60" dirty="0">
                <a:latin typeface="Arial MT"/>
                <a:cs typeface="Arial MT"/>
              </a:rPr>
              <a:t> </a:t>
            </a:r>
            <a:r>
              <a:rPr sz="2750" spc="-50" dirty="0">
                <a:latin typeface="Arial MT"/>
                <a:cs typeface="Arial MT"/>
              </a:rPr>
              <a:t>Signals</a:t>
            </a:r>
            <a:r>
              <a:rPr sz="2750" spc="-130" dirty="0">
                <a:latin typeface="Arial MT"/>
                <a:cs typeface="Arial MT"/>
              </a:rPr>
              <a:t> </a:t>
            </a:r>
            <a:r>
              <a:rPr sz="2750" spc="-170" dirty="0">
                <a:latin typeface="Arial MT"/>
                <a:cs typeface="Arial MT"/>
              </a:rPr>
              <a:t>&amp; </a:t>
            </a:r>
            <a:r>
              <a:rPr sz="2750" spc="-10" dirty="0">
                <a:latin typeface="Arial MT"/>
                <a:cs typeface="Arial MT"/>
              </a:rPr>
              <a:t>Improved</a:t>
            </a:r>
            <a:r>
              <a:rPr sz="2750" spc="-25" dirty="0">
                <a:latin typeface="Arial MT"/>
                <a:cs typeface="Arial MT"/>
              </a:rPr>
              <a:t> </a:t>
            </a:r>
            <a:r>
              <a:rPr sz="2750" spc="-285" dirty="0">
                <a:latin typeface="Arial MT"/>
                <a:cs typeface="Arial MT"/>
              </a:rPr>
              <a:t>ICSR</a:t>
            </a:r>
            <a:r>
              <a:rPr sz="2750" spc="110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Quality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082540" y="6914029"/>
            <a:ext cx="3416300" cy="191008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sz="2900" spc="65" dirty="0">
                <a:solidFill>
                  <a:srgbClr val="0C2D49"/>
                </a:solidFill>
                <a:latin typeface="Cambria"/>
                <a:cs typeface="Cambria"/>
              </a:rPr>
              <a:t>Pharmacovigilance</a:t>
            </a:r>
            <a:endParaRPr sz="29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2350" spc="190" dirty="0">
                <a:solidFill>
                  <a:srgbClr val="0C2B49"/>
                </a:solidFill>
                <a:latin typeface="Arial MT"/>
                <a:cs typeface="Arial MT"/>
              </a:rPr>
              <a:t>Teams</a:t>
            </a:r>
            <a:endParaRPr sz="2350">
              <a:latin typeface="Arial MT"/>
              <a:cs typeface="Arial MT"/>
            </a:endParaRPr>
          </a:p>
          <a:p>
            <a:pPr marL="12700" marR="5080" indent="1905" algn="ctr">
              <a:lnSpc>
                <a:spcPts val="2400"/>
              </a:lnSpc>
              <a:spcBef>
                <a:spcPts val="1010"/>
              </a:spcBef>
            </a:pPr>
            <a:r>
              <a:rPr sz="2200" dirty="0">
                <a:latin typeface="Arial MT"/>
                <a:cs typeface="Arial MT"/>
              </a:rPr>
              <a:t>Shift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from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reactive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spc="-45" dirty="0">
                <a:latin typeface="Arial MT"/>
                <a:cs typeface="Arial MT"/>
              </a:rPr>
              <a:t>tasks</a:t>
            </a:r>
            <a:r>
              <a:rPr sz="2200" spc="-11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to </a:t>
            </a:r>
            <a:r>
              <a:rPr sz="2300" spc="-45" dirty="0">
                <a:latin typeface="Arial MT"/>
                <a:cs typeface="Arial MT"/>
              </a:rPr>
              <a:t>efficient,</a:t>
            </a:r>
            <a:r>
              <a:rPr sz="2300" spc="-114" dirty="0">
                <a:latin typeface="Arial MT"/>
                <a:cs typeface="Arial MT"/>
              </a:rPr>
              <a:t> </a:t>
            </a:r>
            <a:r>
              <a:rPr sz="2300" spc="-80" dirty="0">
                <a:latin typeface="Arial MT"/>
                <a:cs typeface="Arial MT"/>
              </a:rPr>
              <a:t>risk-</a:t>
            </a:r>
            <a:r>
              <a:rPr sz="2300" spc="-65" dirty="0">
                <a:latin typeface="Arial MT"/>
                <a:cs typeface="Arial MT"/>
              </a:rPr>
              <a:t>focused</a:t>
            </a:r>
            <a:r>
              <a:rPr sz="2300" spc="-35" dirty="0">
                <a:latin typeface="Arial MT"/>
                <a:cs typeface="Arial MT"/>
              </a:rPr>
              <a:t> </a:t>
            </a:r>
            <a:r>
              <a:rPr sz="2300" spc="-45" dirty="0">
                <a:latin typeface="Arial MT"/>
                <a:cs typeface="Arial MT"/>
              </a:rPr>
              <a:t>safety </a:t>
            </a:r>
            <a:r>
              <a:rPr sz="2150" spc="-10" dirty="0">
                <a:latin typeface="Arial MT"/>
                <a:cs typeface="Arial MT"/>
              </a:rPr>
              <a:t>science.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074650" y="6741459"/>
            <a:ext cx="3610610" cy="1781810"/>
          </a:xfrm>
          <a:prstGeom prst="rect">
            <a:avLst/>
          </a:prstGeom>
        </p:spPr>
        <p:txBody>
          <a:bodyPr vert="horz" wrap="square" lIns="0" tIns="21145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64"/>
              </a:spcBef>
            </a:pPr>
            <a:r>
              <a:rPr sz="2900" spc="-10" dirty="0">
                <a:solidFill>
                  <a:srgbClr val="072A49"/>
                </a:solidFill>
                <a:latin typeface="Cambria"/>
                <a:cs typeface="Cambria"/>
              </a:rPr>
              <a:t>Regulators</a:t>
            </a:r>
            <a:endParaRPr sz="2900">
              <a:latin typeface="Cambria"/>
              <a:cs typeface="Cambria"/>
            </a:endParaRPr>
          </a:p>
          <a:p>
            <a:pPr marL="22225" algn="ctr">
              <a:lnSpc>
                <a:spcPts val="2635"/>
              </a:lnSpc>
              <a:spcBef>
                <a:spcPts val="1270"/>
              </a:spcBef>
            </a:pPr>
            <a:r>
              <a:rPr sz="2350" spc="-145" dirty="0">
                <a:latin typeface="Arial MT"/>
                <a:cs typeface="Arial MT"/>
              </a:rPr>
              <a:t>Timely,</a:t>
            </a:r>
            <a:r>
              <a:rPr sz="2350" spc="30" dirty="0">
                <a:latin typeface="Arial MT"/>
                <a:cs typeface="Arial MT"/>
              </a:rPr>
              <a:t> </a:t>
            </a:r>
            <a:r>
              <a:rPr sz="2350" spc="-125" dirty="0">
                <a:latin typeface="Arial MT"/>
                <a:cs typeface="Arial MT"/>
              </a:rPr>
              <a:t>complete,</a:t>
            </a:r>
            <a:r>
              <a:rPr sz="2350" spc="-15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and</a:t>
            </a:r>
            <a:endParaRPr sz="2350">
              <a:latin typeface="Arial MT"/>
              <a:cs typeface="Arial MT"/>
            </a:endParaRPr>
          </a:p>
          <a:p>
            <a:pPr marL="5715" algn="ctr">
              <a:lnSpc>
                <a:spcPts val="2285"/>
              </a:lnSpc>
            </a:pPr>
            <a:r>
              <a:rPr sz="2200" spc="-35" dirty="0">
                <a:latin typeface="Arial MT"/>
                <a:cs typeface="Arial MT"/>
              </a:rPr>
              <a:t>high-</a:t>
            </a:r>
            <a:r>
              <a:rPr sz="2200" dirty="0">
                <a:latin typeface="Arial MT"/>
                <a:cs typeface="Arial MT"/>
              </a:rPr>
              <a:t>quality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safety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data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for</a:t>
            </a:r>
            <a:endParaRPr sz="2200">
              <a:latin typeface="Arial MT"/>
              <a:cs typeface="Arial MT"/>
            </a:endParaRPr>
          </a:p>
          <a:p>
            <a:pPr algn="ctr">
              <a:lnSpc>
                <a:spcPts val="2590"/>
              </a:lnSpc>
            </a:pPr>
            <a:r>
              <a:rPr sz="2300" spc="-25" dirty="0">
                <a:latin typeface="Arial MT"/>
                <a:cs typeface="Arial MT"/>
              </a:rPr>
              <a:t>better</a:t>
            </a:r>
            <a:r>
              <a:rPr sz="2300" spc="-95" dirty="0">
                <a:latin typeface="Arial MT"/>
                <a:cs typeface="Arial MT"/>
              </a:rPr>
              <a:t> </a:t>
            </a:r>
            <a:r>
              <a:rPr sz="2300" spc="-75" dirty="0">
                <a:latin typeface="Arial MT"/>
                <a:cs typeface="Arial MT"/>
              </a:rPr>
              <a:t>public</a:t>
            </a:r>
            <a:r>
              <a:rPr sz="2300" spc="-85" dirty="0">
                <a:latin typeface="Arial MT"/>
                <a:cs typeface="Arial MT"/>
              </a:rPr>
              <a:t> </a:t>
            </a:r>
            <a:r>
              <a:rPr sz="2300" spc="-75" dirty="0">
                <a:latin typeface="Arial MT"/>
                <a:cs typeface="Arial MT"/>
              </a:rPr>
              <a:t>health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spc="-70" dirty="0">
                <a:latin typeface="Arial MT"/>
                <a:cs typeface="Arial MT"/>
              </a:rPr>
              <a:t>decisions.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9279" rIns="0" bIns="0" rtlCol="0">
            <a:spAutoFit/>
          </a:bodyPr>
          <a:lstStyle/>
          <a:p>
            <a:pPr marL="1274445">
              <a:lnSpc>
                <a:spcPct val="100000"/>
              </a:lnSpc>
              <a:spcBef>
                <a:spcPts val="114"/>
              </a:spcBef>
            </a:pPr>
            <a:r>
              <a:rPr spc="100" dirty="0">
                <a:solidFill>
                  <a:srgbClr val="002A54"/>
                </a:solidFill>
              </a:rPr>
              <a:t>Annexure:</a:t>
            </a:r>
            <a:r>
              <a:rPr spc="254" dirty="0">
                <a:solidFill>
                  <a:srgbClr val="002A54"/>
                </a:solidFill>
              </a:rPr>
              <a:t> </a:t>
            </a:r>
            <a:r>
              <a:rPr spc="90" dirty="0">
                <a:solidFill>
                  <a:srgbClr val="032F5B"/>
                </a:solidFill>
              </a:rPr>
              <a:t>Technical</a:t>
            </a:r>
            <a:r>
              <a:rPr spc="135" dirty="0">
                <a:solidFill>
                  <a:srgbClr val="032F5B"/>
                </a:solidFill>
              </a:rPr>
              <a:t> </a:t>
            </a:r>
            <a:r>
              <a:rPr spc="70" dirty="0">
                <a:solidFill>
                  <a:srgbClr val="013159"/>
                </a:solidFill>
              </a:rPr>
              <a:t>&amp;</a:t>
            </a:r>
            <a:r>
              <a:rPr spc="-60" dirty="0">
                <a:solidFill>
                  <a:srgbClr val="013159"/>
                </a:solidFill>
              </a:rPr>
              <a:t> </a:t>
            </a:r>
            <a:r>
              <a:rPr spc="65" dirty="0"/>
              <a:t>Regulatory</a:t>
            </a:r>
            <a:r>
              <a:rPr spc="450" dirty="0"/>
              <a:t> </a:t>
            </a:r>
            <a:r>
              <a:rPr spc="140" dirty="0">
                <a:solidFill>
                  <a:srgbClr val="053664"/>
                </a:solidFill>
              </a:rPr>
              <a:t>Deep</a:t>
            </a:r>
            <a:r>
              <a:rPr spc="-150" dirty="0">
                <a:solidFill>
                  <a:srgbClr val="053664"/>
                </a:solidFill>
              </a:rPr>
              <a:t> </a:t>
            </a:r>
            <a:r>
              <a:rPr spc="50" dirty="0">
                <a:solidFill>
                  <a:srgbClr val="012A50"/>
                </a:solidFill>
              </a:rPr>
              <a:t>Dive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3991" y="2407355"/>
            <a:ext cx="14765019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10" dirty="0">
                <a:latin typeface="Arial MT"/>
                <a:cs typeface="Arial MT"/>
              </a:rPr>
              <a:t>This</a:t>
            </a:r>
            <a:r>
              <a:rPr sz="3200" spc="-114" dirty="0">
                <a:latin typeface="Arial MT"/>
                <a:cs typeface="Arial MT"/>
              </a:rPr>
              <a:t> </a:t>
            </a:r>
            <a:r>
              <a:rPr sz="3200" spc="-55" dirty="0">
                <a:latin typeface="Arial MT"/>
                <a:cs typeface="Arial MT"/>
              </a:rPr>
              <a:t>presentation</a:t>
            </a:r>
            <a:r>
              <a:rPr sz="3200" spc="-1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225" dirty="0">
                <a:latin typeface="Arial MT"/>
                <a:cs typeface="Arial MT"/>
              </a:rPr>
              <a:t> </a:t>
            </a:r>
            <a:r>
              <a:rPr sz="3200" spc="-35" dirty="0">
                <a:latin typeface="Arial MT"/>
                <a:cs typeface="Arial MT"/>
              </a:rPr>
              <a:t>supported</a:t>
            </a:r>
            <a:r>
              <a:rPr sz="3200" spc="-1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by</a:t>
            </a:r>
            <a:r>
              <a:rPr sz="3200" spc="-180" dirty="0">
                <a:latin typeface="Arial MT"/>
                <a:cs typeface="Arial MT"/>
              </a:rPr>
              <a:t> </a:t>
            </a:r>
            <a:r>
              <a:rPr sz="3200" spc="-30" dirty="0">
                <a:latin typeface="Arial MT"/>
                <a:cs typeface="Arial MT"/>
              </a:rPr>
              <a:t>detailed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60" dirty="0">
                <a:latin typeface="Arial MT"/>
                <a:cs typeface="Arial MT"/>
              </a:rPr>
              <a:t>documentation</a:t>
            </a:r>
            <a:r>
              <a:rPr sz="3200" spc="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for</a:t>
            </a:r>
            <a:r>
              <a:rPr sz="3200" spc="-120" dirty="0">
                <a:latin typeface="Arial MT"/>
                <a:cs typeface="Arial MT"/>
              </a:rPr>
              <a:t> </a:t>
            </a:r>
            <a:r>
              <a:rPr sz="3200" spc="-15" dirty="0">
                <a:latin typeface="Arial MT"/>
                <a:cs typeface="Arial MT"/>
              </a:rPr>
              <a:t>expert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105" dirty="0">
                <a:latin typeface="Arial MT"/>
                <a:cs typeface="Arial MT"/>
              </a:rPr>
              <a:t>review,</a:t>
            </a:r>
            <a:r>
              <a:rPr sz="3200" spc="-12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including: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0220" y="3262488"/>
            <a:ext cx="6842759" cy="5209118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3200" spc="-10" dirty="0">
                <a:latin typeface="Arial MT"/>
                <a:cs typeface="Arial MT"/>
              </a:rPr>
              <a:t>Frameworks</a:t>
            </a:r>
            <a:endParaRPr sz="3200" dirty="0">
              <a:latin typeface="Arial MT"/>
              <a:cs typeface="Arial MT"/>
            </a:endParaRPr>
          </a:p>
          <a:p>
            <a:pPr marL="687705" marR="1249045" indent="-333375">
              <a:lnSpc>
                <a:spcPts val="3450"/>
              </a:lnSpc>
              <a:spcBef>
                <a:spcPts val="1500"/>
              </a:spcBef>
              <a:buClr>
                <a:srgbClr val="676767"/>
              </a:buClr>
              <a:buChar char="•"/>
              <a:tabLst>
                <a:tab pos="687705" algn="l"/>
              </a:tabLst>
            </a:pPr>
            <a:r>
              <a:rPr sz="3200" spc="-170" dirty="0">
                <a:latin typeface="Arial MT"/>
                <a:cs typeface="Arial MT"/>
              </a:rPr>
              <a:t>Sample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145" dirty="0">
                <a:latin typeface="Arial MT"/>
                <a:cs typeface="Arial MT"/>
              </a:rPr>
              <a:t>Risk-</a:t>
            </a:r>
            <a:r>
              <a:rPr sz="3200" spc="-95" dirty="0">
                <a:latin typeface="Arial MT"/>
                <a:cs typeface="Arial MT"/>
              </a:rPr>
              <a:t>Scoring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75" dirty="0">
                <a:latin typeface="Arial MT"/>
                <a:cs typeface="Arial MT"/>
              </a:rPr>
              <a:t>Logic</a:t>
            </a:r>
            <a:r>
              <a:rPr sz="3200" spc="-95" dirty="0">
                <a:latin typeface="Arial MT"/>
                <a:cs typeface="Arial MT"/>
              </a:rPr>
              <a:t> </a:t>
            </a:r>
            <a:r>
              <a:rPr sz="3200" spc="-350" dirty="0">
                <a:latin typeface="Arial MT"/>
                <a:cs typeface="Arial MT"/>
              </a:rPr>
              <a:t>&amp; </a:t>
            </a:r>
            <a:r>
              <a:rPr sz="3200" spc="-55" dirty="0">
                <a:latin typeface="Arial MT"/>
                <a:cs typeface="Arial MT"/>
              </a:rPr>
              <a:t>Prioritization</a:t>
            </a:r>
            <a:r>
              <a:rPr sz="3200" spc="-15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Framework</a:t>
            </a:r>
            <a:endParaRPr sz="3200" dirty="0">
              <a:latin typeface="Arial MT"/>
              <a:cs typeface="Arial MT"/>
            </a:endParaRPr>
          </a:p>
          <a:p>
            <a:pPr marL="684530" marR="5080" indent="-330835">
              <a:lnSpc>
                <a:spcPts val="3400"/>
              </a:lnSpc>
              <a:spcBef>
                <a:spcPts val="1590"/>
              </a:spcBef>
              <a:buClr>
                <a:srgbClr val="696969"/>
              </a:buClr>
              <a:buChar char="•"/>
              <a:tabLst>
                <a:tab pos="686435" algn="l"/>
              </a:tabLst>
            </a:pPr>
            <a:r>
              <a:rPr sz="3200" spc="-110" dirty="0">
                <a:latin typeface="Arial MT"/>
                <a:cs typeface="Arial MT"/>
              </a:rPr>
              <a:t>Governance,</a:t>
            </a:r>
            <a:r>
              <a:rPr sz="3200" spc="-60" dirty="0">
                <a:latin typeface="Arial MT"/>
                <a:cs typeface="Arial MT"/>
              </a:rPr>
              <a:t> Audit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spc="-105" dirty="0">
                <a:latin typeface="Arial MT"/>
                <a:cs typeface="Arial MT"/>
              </a:rPr>
              <a:t>Trail,</a:t>
            </a:r>
            <a:r>
              <a:rPr sz="3200" spc="-120" dirty="0">
                <a:latin typeface="Arial MT"/>
                <a:cs typeface="Arial MT"/>
              </a:rPr>
              <a:t> </a:t>
            </a:r>
            <a:r>
              <a:rPr sz="3200" spc="-125" dirty="0">
                <a:latin typeface="Arial MT"/>
                <a:cs typeface="Arial MT"/>
              </a:rPr>
              <a:t>and</a:t>
            </a:r>
            <a:r>
              <a:rPr sz="3200" spc="-95" dirty="0">
                <a:latin typeface="Arial MT"/>
                <a:cs typeface="Arial MT"/>
              </a:rPr>
              <a:t> </a:t>
            </a:r>
            <a:r>
              <a:rPr sz="3200" spc="-135" dirty="0">
                <a:latin typeface="Arial MT"/>
                <a:cs typeface="Arial MT"/>
              </a:rPr>
              <a:t>Human 	</a:t>
            </a:r>
            <a:r>
              <a:rPr sz="3200" spc="-75" dirty="0">
                <a:latin typeface="Arial MT"/>
                <a:cs typeface="Arial MT"/>
              </a:rPr>
              <a:t>Oversight</a:t>
            </a:r>
            <a:r>
              <a:rPr sz="3200" spc="-1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Model</a:t>
            </a:r>
            <a:endParaRPr sz="3200" dirty="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1270"/>
              </a:spcBef>
            </a:pPr>
            <a:r>
              <a:rPr sz="3200" dirty="0">
                <a:latin typeface="Arial MT"/>
                <a:cs typeface="Arial MT"/>
              </a:rPr>
              <a:t>Content</a:t>
            </a:r>
            <a:r>
              <a:rPr sz="3200" spc="-9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Examples</a:t>
            </a:r>
            <a:endParaRPr lang="en-US" sz="3200" spc="-10" dirty="0">
              <a:latin typeface="Arial MT"/>
              <a:cs typeface="Arial MT"/>
            </a:endParaRPr>
          </a:p>
          <a:p>
            <a:pPr marL="482600" indent="-457200">
              <a:lnSpc>
                <a:spcPct val="100000"/>
              </a:lnSpc>
              <a:spcBef>
                <a:spcPts val="1270"/>
              </a:spcBef>
              <a:buFont typeface="Arial" panose="020B0604020202020204" pitchFamily="34" charset="0"/>
              <a:buChar char="•"/>
            </a:pPr>
            <a:r>
              <a:rPr lang="en-US" sz="3200" dirty="0"/>
              <a:t>Example Follow-Up Question Sets (Patient &amp; HCP)</a:t>
            </a:r>
            <a:endParaRPr sz="3200" dirty="0">
              <a:latin typeface="Arial MT"/>
              <a:cs typeface="Arial MT"/>
            </a:endParaRPr>
          </a:p>
          <a:p>
            <a:pPr marL="686435" marR="367665" indent="-335915">
              <a:lnSpc>
                <a:spcPts val="3700"/>
              </a:lnSpc>
              <a:spcBef>
                <a:spcPts val="900"/>
              </a:spcBef>
              <a:buClr>
                <a:srgbClr val="6B6B6B"/>
              </a:buClr>
              <a:buChar char="•"/>
              <a:tabLst>
                <a:tab pos="695325" algn="l"/>
              </a:tabLst>
            </a:pPr>
            <a:endParaRPr sz="3200" dirty="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48608" y="3262488"/>
            <a:ext cx="5770880" cy="3916457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60"/>
              </a:spcBef>
            </a:pPr>
            <a:r>
              <a:rPr sz="3200" spc="-35" dirty="0">
                <a:latin typeface="Arial MT"/>
                <a:cs typeface="Arial MT"/>
              </a:rPr>
              <a:t>Technical</a:t>
            </a:r>
            <a:r>
              <a:rPr sz="3200" spc="-16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Validation</a:t>
            </a:r>
            <a:endParaRPr sz="3200" dirty="0">
              <a:latin typeface="Arial MT"/>
              <a:cs typeface="Arial MT"/>
            </a:endParaRPr>
          </a:p>
          <a:p>
            <a:pPr marL="677545" marR="5080" indent="-325120">
              <a:lnSpc>
                <a:spcPts val="3450"/>
              </a:lnSpc>
              <a:spcBef>
                <a:spcPts val="1500"/>
              </a:spcBef>
              <a:buChar char="•"/>
              <a:tabLst>
                <a:tab pos="677545" algn="l"/>
                <a:tab pos="680085" algn="l"/>
              </a:tabLst>
            </a:pPr>
            <a:r>
              <a:rPr sz="3200" dirty="0">
                <a:solidFill>
                  <a:srgbClr val="696969"/>
                </a:solidFill>
                <a:latin typeface="Arial MT"/>
                <a:cs typeface="Arial MT"/>
              </a:rPr>
              <a:t>	</a:t>
            </a:r>
            <a:r>
              <a:rPr sz="3200" spc="-235" dirty="0">
                <a:latin typeface="Arial MT"/>
                <a:cs typeface="Arial MT"/>
              </a:rPr>
              <a:t>AI</a:t>
            </a:r>
            <a:r>
              <a:rPr sz="3200" spc="-125" dirty="0">
                <a:latin typeface="Arial MT"/>
                <a:cs typeface="Arial MT"/>
              </a:rPr>
              <a:t> </a:t>
            </a:r>
            <a:r>
              <a:rPr sz="3200" spc="-60" dirty="0">
                <a:latin typeface="Arial MT"/>
                <a:cs typeface="Arial MT"/>
              </a:rPr>
              <a:t>Model</a:t>
            </a:r>
            <a:r>
              <a:rPr sz="3200" spc="-165" dirty="0">
                <a:latin typeface="Arial MT"/>
                <a:cs typeface="Arial MT"/>
              </a:rPr>
              <a:t> </a:t>
            </a:r>
            <a:r>
              <a:rPr sz="3200" spc="-110" dirty="0">
                <a:latin typeface="Arial MT"/>
                <a:cs typeface="Arial MT"/>
              </a:rPr>
              <a:t>Evaluation </a:t>
            </a:r>
            <a:r>
              <a:rPr sz="3200" spc="-30" dirty="0">
                <a:latin typeface="Arial MT"/>
                <a:cs typeface="Arial MT"/>
              </a:rPr>
              <a:t>Metrics</a:t>
            </a:r>
            <a:r>
              <a:rPr sz="3200" spc="-105" dirty="0">
                <a:latin typeface="Arial MT"/>
                <a:cs typeface="Arial MT"/>
              </a:rPr>
              <a:t> </a:t>
            </a:r>
            <a:r>
              <a:rPr sz="3200" spc="-480" dirty="0">
                <a:latin typeface="Arial MT"/>
                <a:cs typeface="Arial MT"/>
              </a:rPr>
              <a:t>&amp; </a:t>
            </a:r>
            <a:r>
              <a:rPr sz="3200" spc="-85" dirty="0">
                <a:latin typeface="Arial MT"/>
                <a:cs typeface="Arial MT"/>
              </a:rPr>
              <a:t>Validation</a:t>
            </a:r>
            <a:r>
              <a:rPr sz="3200" spc="-1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Approach</a:t>
            </a:r>
            <a:endParaRPr sz="3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3200" spc="-20" dirty="0">
                <a:latin typeface="Arial MT"/>
                <a:cs typeface="Arial MT"/>
              </a:rPr>
              <a:t>Regulatory</a:t>
            </a:r>
            <a:r>
              <a:rPr sz="3200" spc="-1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Alignment</a:t>
            </a:r>
            <a:endParaRPr sz="3200" dirty="0">
              <a:latin typeface="Arial MT"/>
              <a:cs typeface="Arial MT"/>
            </a:endParaRPr>
          </a:p>
          <a:p>
            <a:pPr marL="673100" indent="-320040">
              <a:lnSpc>
                <a:spcPts val="3620"/>
              </a:lnSpc>
              <a:spcBef>
                <a:spcPts val="1310"/>
              </a:spcBef>
              <a:buClr>
                <a:srgbClr val="676767"/>
              </a:buClr>
              <a:buChar char="•"/>
              <a:tabLst>
                <a:tab pos="673100" algn="l"/>
                <a:tab pos="4030979" algn="l"/>
              </a:tabLst>
            </a:pPr>
            <a:r>
              <a:rPr lang="en-US" sz="3200" dirty="0"/>
              <a:t>Detailed Alignment with ICH Guidelines and EMA GVP Principles</a:t>
            </a:r>
            <a:endParaRPr sz="3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0800" y="1320800"/>
            <a:ext cx="6362700" cy="1016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05786" y="2709686"/>
            <a:ext cx="824357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500" spc="-10" dirty="0">
                <a:solidFill>
                  <a:srgbClr val="000000"/>
                </a:solidFill>
                <a:latin typeface="Arial MT"/>
                <a:cs typeface="Arial MT"/>
              </a:rPr>
              <a:t>Opening</a:t>
            </a:r>
            <a:r>
              <a:rPr sz="4500" spc="114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4500" spc="55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4500" spc="-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4500" dirty="0">
                <a:solidFill>
                  <a:srgbClr val="000000"/>
                </a:solidFill>
                <a:latin typeface="Arial MT"/>
                <a:cs typeface="Arial MT"/>
              </a:rPr>
              <a:t>floor</a:t>
            </a:r>
            <a:r>
              <a:rPr sz="4500" spc="2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4500" dirty="0">
                <a:solidFill>
                  <a:srgbClr val="000000"/>
                </a:solidFill>
                <a:latin typeface="Arial MT"/>
                <a:cs typeface="Arial MT"/>
              </a:rPr>
              <a:t>for</a:t>
            </a:r>
            <a:r>
              <a:rPr sz="4500" spc="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4500" spc="-25" dirty="0">
                <a:solidFill>
                  <a:srgbClr val="000000"/>
                </a:solidFill>
                <a:latin typeface="Arial MT"/>
                <a:cs typeface="Arial MT"/>
              </a:rPr>
              <a:t>discussion.</a:t>
            </a:r>
            <a:endParaRPr sz="45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2677" y="6091061"/>
            <a:ext cx="5984240" cy="265906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4335"/>
              </a:lnSpc>
              <a:spcBef>
                <a:spcPts val="135"/>
              </a:spcBef>
            </a:pPr>
            <a:r>
              <a:rPr lang="en-US" sz="3850" spc="-155" dirty="0">
                <a:latin typeface="Arial MT"/>
                <a:cs typeface="Arial MT"/>
              </a:rPr>
              <a:t>Himanshu Sharma</a:t>
            </a:r>
            <a:endParaRPr sz="3800" dirty="0">
              <a:latin typeface="Arial MT"/>
              <a:cs typeface="Arial MT"/>
            </a:endParaRPr>
          </a:p>
          <a:p>
            <a:pPr marL="13335">
              <a:lnSpc>
                <a:spcPts val="3995"/>
              </a:lnSpc>
            </a:pPr>
            <a:r>
              <a:rPr lang="en-US" sz="3750" spc="-165" dirty="0">
                <a:latin typeface="Arial MT"/>
                <a:cs typeface="Arial MT"/>
                <a:hlinkClick r:id="rId3"/>
              </a:rPr>
              <a:t>Himanshusharma.shriram@gmail.com</a:t>
            </a:r>
            <a:endParaRPr lang="en-US" sz="3750" spc="-165" dirty="0">
              <a:latin typeface="Arial MT"/>
              <a:cs typeface="Arial MT"/>
            </a:endParaRPr>
          </a:p>
          <a:p>
            <a:pPr marL="13335">
              <a:lnSpc>
                <a:spcPts val="3995"/>
              </a:lnSpc>
            </a:pPr>
            <a:r>
              <a:rPr lang="en-US" sz="3750" spc="-165" dirty="0">
                <a:latin typeface="Arial MT"/>
                <a:cs typeface="Arial MT"/>
              </a:rPr>
              <a:t>6265643703</a:t>
            </a:r>
            <a:endParaRPr sz="3750" dirty="0">
              <a:latin typeface="Arial MT"/>
              <a:cs typeface="Arial MT"/>
            </a:endParaRPr>
          </a:p>
          <a:p>
            <a:pPr marL="12700">
              <a:lnSpc>
                <a:spcPts val="4345"/>
              </a:lnSpc>
            </a:pPr>
            <a:endParaRPr sz="38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615</Words>
  <Application>Microsoft Office PowerPoint</Application>
  <PresentationFormat>Custom</PresentationFormat>
  <Paragraphs>93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Black</vt:lpstr>
      <vt:lpstr>Arial MT</vt:lpstr>
      <vt:lpstr>Calibri</vt:lpstr>
      <vt:lpstr>Cambria</vt:lpstr>
      <vt:lpstr>Times New Roman</vt:lpstr>
      <vt:lpstr>Office Theme</vt:lpstr>
      <vt:lpstr>Transforming Pharmacovigilance Follow-Up</vt:lpstr>
      <vt:lpstr>The Challenge: From Systemic Failure to Intelligent Follow-Up</vt:lpstr>
      <vt:lpstr>A Three-Layered Intelligence Engine</vt:lpstr>
      <vt:lpstr>Engineered for Seamless Integration &amp; Scalability</vt:lpstr>
      <vt:lpstr>PowerPoint Presentation</vt:lpstr>
      <vt:lpstr>Annexure: Technical &amp; Regulatory Deep Dive</vt:lpstr>
      <vt:lpstr>Opening the floor for discussion.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Himanshu sharma</dc:creator>
  <cp:lastModifiedBy>Himanshu Sharma</cp:lastModifiedBy>
  <cp:revision>3</cp:revision>
  <dcterms:created xsi:type="dcterms:W3CDTF">2026-01-08T17:04:08Z</dcterms:created>
  <dcterms:modified xsi:type="dcterms:W3CDTF">2026-01-08T17:29:46Z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2026-01-08T00:00:00Z</vt:filetime>
  </property>
  <property fmtid="{D5CDD505-2E9C-101B-9397-08002B2CF9AE}" pid="3" name="LastSaved">
    <vt:filetime>2026-01-08T00:00:00Z</vt:filetime>
  </property>
</Properties>
</file>